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4AB2"/>
    <a:srgbClr val="754DA5"/>
    <a:srgbClr val="ABDFF4"/>
    <a:srgbClr val="6877E0"/>
    <a:srgbClr val="677CE7"/>
    <a:srgbClr val="6878E1"/>
    <a:srgbClr val="8FD4F0"/>
    <a:srgbClr val="599C9F"/>
    <a:srgbClr val="3D4B62"/>
    <a:srgbClr val="745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761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799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440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938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24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70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4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71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03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169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415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6316-994A-F7F7-5269-677768D2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3D3E6-4EB2-72A9-04D0-B5C973CBC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EAE55-0690-170E-6C2F-E494F201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F2BFB-ABDA-5799-0721-337ECB50F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2B71A-9BC3-9AC2-8B41-5F2AC62D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09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3E98156-D49A-4635-ABD9-C487F9B1870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22A181D-1ABF-4612-A2E9-52DAC09172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88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22C8-1F30-5DF9-3F78-1EBADEEB3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1443988"/>
            <a:ext cx="9418320" cy="2467937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🧠</a:t>
            </a:r>
            <a:r>
              <a:rPr lang="en-US" sz="48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4500" b="1" dirty="0" err="1">
                <a:solidFill>
                  <a:srgbClr val="599C9F"/>
                </a:solidFill>
              </a:rPr>
              <a:t>BrainRush</a:t>
            </a:r>
            <a:br>
              <a:rPr lang="en-US" sz="4500" b="1" dirty="0">
                <a:solidFill>
                  <a:srgbClr val="599C9F"/>
                </a:solidFill>
              </a:rPr>
            </a:br>
            <a:br>
              <a:rPr lang="ru-RU" sz="4500" b="1" dirty="0"/>
            </a:br>
            <a:r>
              <a:rPr lang="ru-RU" sz="4500" b="1" dirty="0"/>
              <a:t>В</a:t>
            </a:r>
            <a:r>
              <a:rPr lang="ru-RU" sz="4500" dirty="0"/>
              <a:t>ебзастосунок для тренування когнітивних навичок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CDD55-148D-B6D6-1C30-F0EB8AE5B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8080" y="5111495"/>
            <a:ext cx="4453128" cy="124358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Якимов Ілля Віталійович</a:t>
            </a:r>
            <a:br>
              <a:rPr lang="en-US" dirty="0"/>
            </a:br>
            <a:r>
              <a:rPr lang="ru-RU" dirty="0"/>
              <a:t>Самойло Тарас Костянтинович</a:t>
            </a:r>
            <a:br>
              <a:rPr lang="en-US" dirty="0"/>
            </a:br>
            <a:r>
              <a:rPr lang="ru-RU" dirty="0"/>
              <a:t>ІПЗ-22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10125-7B6A-6F55-D935-AD3E67B1B39B}"/>
              </a:ext>
            </a:extLst>
          </p:cNvPr>
          <p:cNvSpPr txBox="1"/>
          <p:nvPr/>
        </p:nvSpPr>
        <p:spPr>
          <a:xfrm>
            <a:off x="868680" y="5985748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  <a:r>
              <a:rPr lang="en-US" dirty="0"/>
              <a:t>8</a:t>
            </a:r>
            <a:r>
              <a:rPr lang="ru-RU" dirty="0"/>
              <a:t>.12.2025</a:t>
            </a:r>
          </a:p>
        </p:txBody>
      </p:sp>
    </p:spTree>
    <p:extLst>
      <p:ext uri="{BB962C8B-B14F-4D97-AF65-F5344CB8AC3E}">
        <p14:creationId xmlns:p14="http://schemas.microsoft.com/office/powerpoint/2010/main" val="2127333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BBC5-4438-3F34-4B51-EB61F8B81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932688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5C2BA5"/>
                </a:solidFill>
              </a:rPr>
              <a:t>Огляд проблеми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8BB4-AAB0-BE9B-E5B5-29755F8BD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264" y="1705593"/>
            <a:ext cx="9436608" cy="4384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Aptos Black" panose="020B0004020202020204" pitchFamily="34" charset="0"/>
              </a:rPr>
              <a:t>❓ </a:t>
            </a:r>
            <a:r>
              <a:rPr lang="ru-RU" sz="2000" b="1" dirty="0">
                <a:latin typeface="Aptos Black" panose="020B0004020202020204" pitchFamily="34" charset="0"/>
              </a:rPr>
              <a:t>Яку проблему вирішує застосунок?</a:t>
            </a:r>
            <a:br>
              <a:rPr lang="en-US" dirty="0"/>
            </a:br>
            <a:r>
              <a:rPr lang="en-US" dirty="0" err="1"/>
              <a:t>BrainRush</a:t>
            </a:r>
            <a:r>
              <a:rPr lang="en-US" dirty="0"/>
              <a:t> </a:t>
            </a:r>
            <a:r>
              <a:rPr lang="ru-RU" dirty="0"/>
              <a:t>вирішує проблему недостатньої мотивації та доступності для регулярного тренування когнітивних навичок. Швидкі міні-ігри дають короткі, часті сесії тренувань - підходять для перерв між заняттями та щоденної практики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ru-RU" sz="2000" dirty="0">
                <a:latin typeface="Aptos Black" panose="020B0004020202020204" pitchFamily="34" charset="0"/>
              </a:rPr>
              <a:t>👥 </a:t>
            </a:r>
            <a:r>
              <a:rPr lang="ru-RU" sz="2000" b="1" dirty="0">
                <a:latin typeface="Aptos Black" panose="020B0004020202020204" pitchFamily="34" charset="0"/>
              </a:rPr>
              <a:t>Цільова аудиторія</a:t>
            </a:r>
            <a:br>
              <a:rPr lang="en-US" dirty="0"/>
            </a:br>
            <a:r>
              <a:rPr lang="ru-RU" dirty="0"/>
              <a:t>Зацікавлені: школярі, студенти, люди, що піклуються про когнітивне здоров’я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sz="2000" dirty="0">
                <a:latin typeface="Aptos Black" panose="020B0004020202020204" pitchFamily="34" charset="0"/>
              </a:rPr>
              <a:t>⚡</a:t>
            </a:r>
            <a:r>
              <a:rPr lang="en-US" sz="2000" b="1" dirty="0">
                <a:latin typeface="Aptos Black" panose="020B0004020202020204" pitchFamily="34" charset="0"/>
              </a:rPr>
              <a:t> </a:t>
            </a:r>
            <a:r>
              <a:rPr lang="ru-RU" sz="2000" b="1" dirty="0">
                <a:latin typeface="Aptos Black" panose="020B0004020202020204" pitchFamily="34" charset="0"/>
              </a:rPr>
              <a:t>Чому це актуально?</a:t>
            </a:r>
            <a:endParaRPr lang="en-US" sz="2000" b="1" dirty="0">
              <a:latin typeface="Aptos Black" panose="020B0004020202020204" pitchFamily="34" charset="0"/>
            </a:endParaRPr>
          </a:p>
          <a:p>
            <a:pPr lvl="1"/>
            <a:r>
              <a:rPr lang="ru-RU" dirty="0"/>
              <a:t>Короткі тренування підвищують довготривалу продуктивність.</a:t>
            </a:r>
            <a:r>
              <a:rPr lang="en-US" dirty="0"/>
              <a:t> </a:t>
            </a:r>
          </a:p>
          <a:p>
            <a:pPr lvl="1"/>
            <a:r>
              <a:rPr lang="ru-RU" dirty="0"/>
              <a:t>Гейміфікація підвищує залученість.</a:t>
            </a:r>
            <a:r>
              <a:rPr lang="en-US" dirty="0"/>
              <a:t> </a:t>
            </a:r>
          </a:p>
          <a:p>
            <a:pPr lvl="1"/>
            <a:r>
              <a:rPr lang="ru-RU" dirty="0"/>
              <a:t>Веб-формат знижує бар'єр входу: жодних установок - досить браузера.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43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ECD1-9DF5-52E2-5EC4-F99D0A10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08896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Наше рішення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63F4-5CA7-DDD7-6EA3-061970D19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7122" y="2961196"/>
            <a:ext cx="6728854" cy="131268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000" b="1" dirty="0"/>
              <a:t>💎 Ключова цінність</a:t>
            </a:r>
          </a:p>
          <a:p>
            <a:pPr lvl="1"/>
            <a:r>
              <a:rPr lang="ru-RU" sz="1700" dirty="0"/>
              <a:t>Швидкі сесії (1-5 хвилин).</a:t>
            </a:r>
            <a:endParaRPr lang="en-US" sz="1700" dirty="0"/>
          </a:p>
          <a:p>
            <a:pPr lvl="1"/>
            <a:r>
              <a:rPr lang="ru-RU" sz="1700" dirty="0"/>
              <a:t>Персональна статистика і прогрес по кожній грі.</a:t>
            </a:r>
            <a:endParaRPr lang="en-US" sz="1700" dirty="0"/>
          </a:p>
          <a:p>
            <a:pPr lvl="1"/>
            <a:r>
              <a:rPr lang="ru-RU" sz="1700" dirty="0"/>
              <a:t>Мотивація через монети, досягнення та таблиці лідерів.</a:t>
            </a:r>
            <a:endParaRPr lang="en-US" sz="17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4B010-2251-7F10-7870-8C0BCD12A9CC}"/>
              </a:ext>
            </a:extLst>
          </p:cNvPr>
          <p:cNvSpPr txBox="1"/>
          <p:nvPr/>
        </p:nvSpPr>
        <p:spPr>
          <a:xfrm>
            <a:off x="1244967" y="1289824"/>
            <a:ext cx="9333164" cy="1396815"/>
          </a:xfrm>
          <a:prstGeom prst="roundRect">
            <a:avLst/>
          </a:prstGeom>
          <a:gradFill flip="none" rotWithShape="1">
            <a:gsLst>
              <a:gs pos="32000">
                <a:srgbClr val="84F9B1">
                  <a:lumMod val="94000"/>
                  <a:alpha val="75000"/>
                </a:srgbClr>
              </a:gs>
              <a:gs pos="100000">
                <a:srgbClr val="8FD4F0">
                  <a:alpha val="75000"/>
                </a:srgbClr>
              </a:gs>
            </a:gsLst>
            <a:lin ang="2400000" scaled="0"/>
            <a:tileRect/>
          </a:gradFill>
          <a:ln>
            <a:noFill/>
          </a:ln>
          <a:effectLst>
            <a:reflection endPos="0" dist="50800" dir="5400000" sy="-100000" algn="bl" rotWithShape="0"/>
          </a:effectLst>
        </p:spPr>
        <p:txBody>
          <a:bodyPr wrap="square" rtlCol="0">
            <a:noAutofit/>
          </a:bodyPr>
          <a:lstStyle/>
          <a:p>
            <a:pPr algn="ctr"/>
            <a:r>
              <a:rPr lang="ru-RU" sz="2000" dirty="0"/>
              <a:t>🎯</a:t>
            </a:r>
            <a:r>
              <a:rPr lang="ru-RU" sz="2000" b="1" dirty="0"/>
              <a:t> Стислий опис</a:t>
            </a:r>
            <a:endParaRPr lang="en-US" sz="2000" b="1" dirty="0"/>
          </a:p>
          <a:p>
            <a:r>
              <a:rPr lang="en-US" dirty="0" err="1"/>
              <a:t>BrainRush</a:t>
            </a:r>
            <a:r>
              <a:rPr lang="en-US" dirty="0"/>
              <a:t> - </a:t>
            </a:r>
            <a:r>
              <a:rPr lang="ru-RU" dirty="0"/>
              <a:t>веб-застосунок на </a:t>
            </a:r>
            <a:r>
              <a:rPr lang="en-US" dirty="0"/>
              <a:t>Flask </a:t>
            </a:r>
            <a:r>
              <a:rPr lang="ru-RU" dirty="0"/>
              <a:t>з набором міні-ігор (</a:t>
            </a:r>
            <a:r>
              <a:rPr lang="en-US" dirty="0"/>
              <a:t>Arithmetic, Sequence Recall, Color Rush, Tapping Memory). </a:t>
            </a:r>
            <a:r>
              <a:rPr lang="ru-RU" dirty="0"/>
              <a:t>Користувачі отримують бали і монети, зберігають прогрес та можуть купувати теми/аватари у внутрішньому магазині.</a:t>
            </a: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1F2108-5662-B2E0-04BC-F58778AC7107}"/>
              </a:ext>
            </a:extLst>
          </p:cNvPr>
          <p:cNvSpPr txBox="1"/>
          <p:nvPr/>
        </p:nvSpPr>
        <p:spPr>
          <a:xfrm>
            <a:off x="4074347" y="4548435"/>
            <a:ext cx="3674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🌟 Унікальні особливості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F141EF2-F32A-8C45-1211-8CD5A803D9A4}"/>
              </a:ext>
            </a:extLst>
          </p:cNvPr>
          <p:cNvSpPr/>
          <p:nvPr/>
        </p:nvSpPr>
        <p:spPr>
          <a:xfrm>
            <a:off x="868586" y="5147034"/>
            <a:ext cx="3202912" cy="1607273"/>
          </a:xfrm>
          <a:prstGeom prst="roundRect">
            <a:avLst/>
          </a:prstGeom>
          <a:gradFill>
            <a:gsLst>
              <a:gs pos="32000">
                <a:srgbClr val="6A71D8">
                  <a:alpha val="75000"/>
                </a:srgbClr>
              </a:gs>
              <a:gs pos="100000">
                <a:srgbClr val="7451AA">
                  <a:alpha val="75000"/>
                </a:srgbClr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700" dirty="0">
                <a:latin typeface="Aptos Black" panose="020F0502020204030204" pitchFamily="34" charset="0"/>
                <a:cs typeface="Aharoni" panose="02010803020104030203" pitchFamily="2" charset="-79"/>
              </a:rPr>
              <a:t>💰 Економічна система</a:t>
            </a:r>
          </a:p>
          <a:p>
            <a:pPr algn="ctr"/>
            <a:endParaRPr lang="ru-RU" sz="1600" dirty="0">
              <a:solidFill>
                <a:schemeClr val="tx1"/>
              </a:solidFill>
            </a:endParaRPr>
          </a:p>
          <a:p>
            <a:pPr algn="ctr"/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Монети за ігри, покупки в магазині, транзакції з історією</a:t>
            </a:r>
          </a:p>
          <a:p>
            <a:pPr algn="ctr"/>
            <a:endParaRPr lang="ru-RU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8CED9B-098B-3F3A-2807-972E93AC1444}"/>
              </a:ext>
            </a:extLst>
          </p:cNvPr>
          <p:cNvSpPr/>
          <p:nvPr/>
        </p:nvSpPr>
        <p:spPr>
          <a:xfrm>
            <a:off x="7751600" y="5147034"/>
            <a:ext cx="3202912" cy="1607273"/>
          </a:xfrm>
          <a:prstGeom prst="roundRect">
            <a:avLst/>
          </a:prstGeom>
          <a:gradFill>
            <a:gsLst>
              <a:gs pos="32000">
                <a:srgbClr val="6A71D8">
                  <a:alpha val="75000"/>
                </a:srgbClr>
              </a:gs>
              <a:gs pos="100000">
                <a:srgbClr val="7451AA">
                  <a:alpha val="75000"/>
                </a:srgbClr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700" dirty="0">
                <a:latin typeface="Aptos Black" panose="020B0004020202020204" pitchFamily="34" charset="0"/>
              </a:rPr>
              <a:t>🏆 Соціальні елементи</a:t>
            </a:r>
          </a:p>
          <a:p>
            <a:pPr algn="ctr"/>
            <a:endParaRPr lang="ru-RU" dirty="0"/>
          </a:p>
          <a:p>
            <a:pPr algn="ctr"/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Таблиця лідерів, рейтинги по кожній грі.</a:t>
            </a:r>
          </a:p>
          <a:p>
            <a:pPr algn="ctr"/>
            <a:endParaRPr lang="ru-RU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3A4D7D-EDC1-B010-5160-E32507DA2595}"/>
              </a:ext>
            </a:extLst>
          </p:cNvPr>
          <p:cNvSpPr/>
          <p:nvPr/>
        </p:nvSpPr>
        <p:spPr>
          <a:xfrm>
            <a:off x="4310093" y="5147034"/>
            <a:ext cx="3202912" cy="1607273"/>
          </a:xfrm>
          <a:prstGeom prst="roundRect">
            <a:avLst/>
          </a:prstGeom>
          <a:gradFill>
            <a:gsLst>
              <a:gs pos="32000">
                <a:srgbClr val="6A71D8">
                  <a:alpha val="75000"/>
                </a:srgbClr>
              </a:gs>
              <a:gs pos="100000">
                <a:srgbClr val="7451AA">
                  <a:alpha val="75000"/>
                </a:srgbClr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700" dirty="0">
                <a:latin typeface="Aptos Black" panose="020B0004020202020204" pitchFamily="34" charset="0"/>
              </a:rPr>
              <a:t>📊 Аналітика</a:t>
            </a:r>
          </a:p>
          <a:p>
            <a:pPr algn="ctr"/>
            <a:endParaRPr lang="ru-RU" dirty="0"/>
          </a:p>
          <a:p>
            <a:pPr algn="ctr"/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Детальна статистика: середній score, час відповіді, історія результатів.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750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B097-9369-57FE-665E-57E9DD66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22017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Технологічний стек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652DAA-4E32-49A5-2D37-73143F094BC0}"/>
              </a:ext>
            </a:extLst>
          </p:cNvPr>
          <p:cNvSpPr/>
          <p:nvPr/>
        </p:nvSpPr>
        <p:spPr>
          <a:xfrm>
            <a:off x="1036947" y="1498862"/>
            <a:ext cx="4565715" cy="1828799"/>
          </a:xfrm>
          <a:prstGeom prst="roundRect">
            <a:avLst/>
          </a:prstGeom>
          <a:noFill/>
          <a:ln w="41275" cap="flat" cmpd="sng">
            <a:gradFill flip="none" rotWithShape="1">
              <a:gsLst>
                <a:gs pos="0">
                  <a:srgbClr val="0070C0"/>
                </a:gs>
                <a:gs pos="100000">
                  <a:srgbClr val="8FD4F0"/>
                </a:gs>
              </a:gsLst>
              <a:lin ang="0" scaled="1"/>
              <a:tileRect/>
            </a:gra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ptos Black" panose="020B0004020202020204" pitchFamily="34" charset="0"/>
              </a:rPr>
              <a:t>Frontend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HTML5, CSS3,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JS</a:t>
            </a:r>
            <a:endParaRPr lang="ru-RU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Jinja2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шаблони (серверний рендер)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Кастомні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CSS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для кожної гри (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static/</a:t>
            </a:r>
            <a:r>
              <a:rPr lang="en-US" sz="16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css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/games/)</a:t>
            </a:r>
          </a:p>
          <a:p>
            <a:pPr>
              <a:lnSpc>
                <a:spcPct val="150000"/>
              </a:lnSpc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185602-B8D2-AB66-9437-B368FAB978EE}"/>
              </a:ext>
            </a:extLst>
          </p:cNvPr>
          <p:cNvSpPr/>
          <p:nvPr/>
        </p:nvSpPr>
        <p:spPr>
          <a:xfrm>
            <a:off x="1036947" y="3638746"/>
            <a:ext cx="4565715" cy="1828799"/>
          </a:xfrm>
          <a:prstGeom prst="roundRect">
            <a:avLst/>
          </a:prstGeom>
          <a:noFill/>
          <a:ln w="41275" cap="flat" cmpd="sng">
            <a:gradFill flip="none" rotWithShape="1">
              <a:gsLst>
                <a:gs pos="0">
                  <a:srgbClr val="0070C0"/>
                </a:gs>
                <a:gs pos="100000">
                  <a:srgbClr val="8FD4F0"/>
                </a:gs>
              </a:gsLst>
              <a:lin ang="0" scaled="1"/>
              <a:tileRect/>
            </a:gra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  <a:latin typeface="Aptos Black" panose="020B0004020202020204" pitchFamily="34" charset="0"/>
              </a:rPr>
              <a:t>База даних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SQLite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0EEC38-3F40-A33A-EE01-7538C9A58C6F}"/>
              </a:ext>
            </a:extLst>
          </p:cNvPr>
          <p:cNvSpPr/>
          <p:nvPr/>
        </p:nvSpPr>
        <p:spPr>
          <a:xfrm>
            <a:off x="6095999" y="1498862"/>
            <a:ext cx="4565715" cy="1828799"/>
          </a:xfrm>
          <a:prstGeom prst="roundRect">
            <a:avLst/>
          </a:prstGeom>
          <a:noFill/>
          <a:ln w="41275" cap="flat" cmpd="sng">
            <a:gradFill flip="none" rotWithShape="1">
              <a:gsLst>
                <a:gs pos="100000">
                  <a:srgbClr val="0070C0"/>
                </a:gs>
                <a:gs pos="0">
                  <a:srgbClr val="8FD4F0"/>
                </a:gs>
              </a:gsLst>
              <a:lin ang="0" scaled="1"/>
              <a:tileRect/>
            </a:gra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ptos Black" panose="020B0004020202020204" pitchFamily="34" charset="0"/>
              </a:rPr>
              <a:t>Backend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Python 3.10–3.13, Flask 3.x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Blueprints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для модульності (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routes/*.</a:t>
            </a:r>
            <a:r>
              <a:rPr lang="en-US" sz="16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py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Flask-Login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для сесій</a:t>
            </a:r>
          </a:p>
          <a:p>
            <a:pPr algn="ctr">
              <a:lnSpc>
                <a:spcPct val="150000"/>
              </a:lnSpc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1C6507-E796-9C54-8CDE-1392C35B6368}"/>
              </a:ext>
            </a:extLst>
          </p:cNvPr>
          <p:cNvSpPr/>
          <p:nvPr/>
        </p:nvSpPr>
        <p:spPr>
          <a:xfrm>
            <a:off x="6095999" y="3638746"/>
            <a:ext cx="4565715" cy="1828799"/>
          </a:xfrm>
          <a:prstGeom prst="roundRect">
            <a:avLst/>
          </a:prstGeom>
          <a:noFill/>
          <a:ln w="41275" cap="flat" cmpd="sng">
            <a:gradFill flip="none" rotWithShape="1">
              <a:gsLst>
                <a:gs pos="100000">
                  <a:srgbClr val="0070C0"/>
                </a:gs>
                <a:gs pos="0">
                  <a:srgbClr val="8FD4F0"/>
                </a:gs>
              </a:gsLst>
              <a:lin ang="0" scaled="1"/>
              <a:tileRect/>
            </a:gra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ptos Black" panose="020B0004020202020204" pitchFamily="34" charset="0"/>
              </a:rPr>
              <a:t>DevOps /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GitHub Actions (CI -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тести +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coverage)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Docker &amp; </a:t>
            </a:r>
            <a:r>
              <a:rPr lang="en-US" sz="16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Gunicorn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для продакшн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Pytest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 + coverage (HTML/XML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артефакти)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69BDA-3E05-E0F5-3896-051C3E8A511F}"/>
              </a:ext>
            </a:extLst>
          </p:cNvPr>
          <p:cNvSpPr txBox="1"/>
          <p:nvPr/>
        </p:nvSpPr>
        <p:spPr>
          <a:xfrm>
            <a:off x="1261872" y="5670223"/>
            <a:ext cx="9333164" cy="822017"/>
          </a:xfrm>
          <a:prstGeom prst="roundRect">
            <a:avLst/>
          </a:prstGeom>
          <a:gradFill flip="none" rotWithShape="1">
            <a:gsLst>
              <a:gs pos="32000">
                <a:srgbClr val="84F9B1">
                  <a:lumMod val="94000"/>
                  <a:alpha val="75000"/>
                </a:srgbClr>
              </a:gs>
              <a:gs pos="100000">
                <a:srgbClr val="8FD4F0">
                  <a:alpha val="75000"/>
                </a:srgbClr>
              </a:gs>
            </a:gsLst>
            <a:lin ang="2400000" scaled="0"/>
            <a:tileRect/>
          </a:gradFill>
          <a:ln>
            <a:noFill/>
          </a:ln>
          <a:effectLst>
            <a:reflection endPos="0" dist="50800" dir="5400000" sy="-100000" algn="bl" rotWithShape="0"/>
          </a:effectLst>
        </p:spPr>
        <p:txBody>
          <a:bodyPr wrap="square" rtlCol="0">
            <a:noAutofit/>
          </a:bodyPr>
          <a:lstStyle/>
          <a:p>
            <a:r>
              <a:rPr lang="ru-RU" dirty="0"/>
              <a:t>Використані залежності й версії можна знайти у </a:t>
            </a:r>
            <a:r>
              <a:rPr lang="en-US" dirty="0"/>
              <a:t>requirements; CI </a:t>
            </a:r>
            <a:r>
              <a:rPr lang="ru-RU" dirty="0"/>
              <a:t>налаштовано для запуску тестів і генерації звіту покриття (</a:t>
            </a:r>
            <a:r>
              <a:rPr lang="en-US" dirty="0"/>
              <a:t>coverage.xml / </a:t>
            </a:r>
            <a:r>
              <a:rPr lang="en-US" dirty="0" err="1"/>
              <a:t>htmlcov</a:t>
            </a:r>
            <a:r>
              <a:rPr lang="en-US" dirty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353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B21A-1A84-07FF-5D34-A8D023BD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93737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Архітектура системи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A44C66-E406-0AE3-DDC5-F5CA17A22523}"/>
              </a:ext>
            </a:extLst>
          </p:cNvPr>
          <p:cNvSpPr/>
          <p:nvPr/>
        </p:nvSpPr>
        <p:spPr>
          <a:xfrm>
            <a:off x="1610189" y="1740782"/>
            <a:ext cx="2336494" cy="32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Aptos Display" panose="020B0004020202020204" pitchFamily="34" charset="0"/>
              </a:rPr>
              <a:t>Користувач (</a:t>
            </a:r>
            <a:r>
              <a:rPr lang="en-US" sz="1600" dirty="0">
                <a:latin typeface="Aptos Display" panose="020B0004020202020204" pitchFamily="34" charset="0"/>
              </a:rPr>
              <a:t>browser)</a:t>
            </a:r>
            <a:endParaRPr lang="ru-RU" sz="1600" dirty="0">
              <a:latin typeface="Aptos Display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410C7D-B7A1-41C9-A629-84957842B231}"/>
              </a:ext>
            </a:extLst>
          </p:cNvPr>
          <p:cNvSpPr/>
          <p:nvPr/>
        </p:nvSpPr>
        <p:spPr>
          <a:xfrm>
            <a:off x="1001484" y="2350670"/>
            <a:ext cx="3553904" cy="420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Frontend (JS, </a:t>
            </a:r>
            <a:r>
              <a:rPr lang="ru-RU" sz="1600" dirty="0">
                <a:latin typeface="Aptos Display" panose="020B0004020202020204" pitchFamily="34" charset="0"/>
              </a:rPr>
              <a:t>шаблони </a:t>
            </a:r>
            <a:r>
              <a:rPr lang="en-US" sz="1600" dirty="0">
                <a:latin typeface="Aptos Display" panose="020B0004020202020204" pitchFamily="34" charset="0"/>
              </a:rPr>
              <a:t>templates)</a:t>
            </a:r>
            <a:endParaRPr lang="ru-RU" sz="1600" dirty="0">
              <a:latin typeface="Aptos Display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8DB9F3-4561-884F-95AF-17927AC8606A}"/>
              </a:ext>
            </a:extLst>
          </p:cNvPr>
          <p:cNvSpPr/>
          <p:nvPr/>
        </p:nvSpPr>
        <p:spPr>
          <a:xfrm>
            <a:off x="145886" y="3049211"/>
            <a:ext cx="5265098" cy="1127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Flask app</a:t>
            </a:r>
            <a:br>
              <a:rPr lang="en-US" sz="1600" dirty="0">
                <a:latin typeface="Aptos Display" panose="020B0004020202020204" pitchFamily="34" charset="0"/>
              </a:rPr>
            </a:br>
            <a:r>
              <a:rPr lang="en-US" sz="1600" dirty="0">
                <a:latin typeface="Aptos Display" panose="020B0004020202020204" pitchFamily="34" charset="0"/>
              </a:rPr>
              <a:t>Blueprints / Routes</a:t>
            </a:r>
            <a:br>
              <a:rPr lang="en-US" sz="1600" dirty="0">
                <a:latin typeface="Aptos Display" panose="020B0004020202020204" pitchFamily="34" charset="0"/>
              </a:rPr>
            </a:br>
            <a:r>
              <a:rPr lang="en-US" sz="1600" dirty="0">
                <a:latin typeface="Aptos Display" panose="020B0004020202020204" pitchFamily="34" charset="0"/>
              </a:rPr>
              <a:t>(main, auth, games, arithmetic, </a:t>
            </a:r>
            <a:r>
              <a:rPr lang="en-US" sz="1600" dirty="0" err="1">
                <a:latin typeface="Aptos Display" panose="020B0004020202020204" pitchFamily="34" charset="0"/>
              </a:rPr>
              <a:t>color_rush</a:t>
            </a:r>
            <a:r>
              <a:rPr lang="en-US" sz="1600" dirty="0">
                <a:latin typeface="Aptos Display" panose="020B0004020202020204" pitchFamily="34" charset="0"/>
              </a:rPr>
              <a:t>, </a:t>
            </a:r>
            <a:r>
              <a:rPr lang="en-US" sz="1600" dirty="0" err="1">
                <a:latin typeface="Aptos Display" panose="020B0004020202020204" pitchFamily="34" charset="0"/>
              </a:rPr>
              <a:t>sequence_recall</a:t>
            </a:r>
            <a:r>
              <a:rPr lang="en-US" sz="1600" dirty="0">
                <a:latin typeface="Aptos Display" panose="020B0004020202020204" pitchFamily="34" charset="0"/>
              </a:rPr>
              <a:t>, </a:t>
            </a:r>
            <a:r>
              <a:rPr lang="en-US" sz="1600" dirty="0" err="1">
                <a:latin typeface="Aptos Display" panose="020B0004020202020204" pitchFamily="34" charset="0"/>
              </a:rPr>
              <a:t>tapping_memory</a:t>
            </a:r>
            <a:r>
              <a:rPr lang="en-US" sz="1600" dirty="0">
                <a:latin typeface="Aptos Display" panose="020B0004020202020204" pitchFamily="34" charset="0"/>
              </a:rPr>
              <a:t>, profile, </a:t>
            </a:r>
            <a:r>
              <a:rPr lang="en-US" sz="1600" dirty="0" err="1">
                <a:latin typeface="Aptos Display" panose="020B0004020202020204" pitchFamily="34" charset="0"/>
              </a:rPr>
              <a:t>api</a:t>
            </a:r>
            <a:r>
              <a:rPr lang="en-US" sz="1600" dirty="0">
                <a:latin typeface="Aptos Display" panose="020B0004020202020204" pitchFamily="34" charset="0"/>
              </a:rPr>
              <a:t>, shop, leaderboard, admin)</a:t>
            </a:r>
            <a:endParaRPr lang="ru-RU" sz="1600" dirty="0">
              <a:latin typeface="Aptos Display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4D8327-E5E8-1F1E-6F72-A8442EE2B82A}"/>
              </a:ext>
            </a:extLst>
          </p:cNvPr>
          <p:cNvSpPr/>
          <p:nvPr/>
        </p:nvSpPr>
        <p:spPr>
          <a:xfrm>
            <a:off x="1305836" y="4454655"/>
            <a:ext cx="2945199" cy="420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Backend / Game logic</a:t>
            </a:r>
            <a:endParaRPr lang="ru-RU" sz="1600" dirty="0">
              <a:latin typeface="Aptos Display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0401EB-4B38-FE1A-85E8-9803D38927B2}"/>
              </a:ext>
            </a:extLst>
          </p:cNvPr>
          <p:cNvSpPr/>
          <p:nvPr/>
        </p:nvSpPr>
        <p:spPr>
          <a:xfrm>
            <a:off x="2011271" y="5153197"/>
            <a:ext cx="1534327" cy="420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Database</a:t>
            </a:r>
            <a:endParaRPr lang="ru-RU" sz="1600" dirty="0">
              <a:latin typeface="Aptos Display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0E415A-D0DF-0B0C-E252-6DB7B46271F3}"/>
              </a:ext>
            </a:extLst>
          </p:cNvPr>
          <p:cNvSpPr txBox="1"/>
          <p:nvPr/>
        </p:nvSpPr>
        <p:spPr>
          <a:xfrm>
            <a:off x="6297105" y="1289824"/>
            <a:ext cx="4281026" cy="5202416"/>
          </a:xfrm>
          <a:prstGeom prst="roundRect">
            <a:avLst/>
          </a:prstGeom>
          <a:gradFill flip="none" rotWithShape="1">
            <a:gsLst>
              <a:gs pos="32000">
                <a:srgbClr val="84F9B1">
                  <a:lumMod val="94000"/>
                  <a:alpha val="75000"/>
                </a:srgbClr>
              </a:gs>
              <a:gs pos="100000">
                <a:srgbClr val="8FD4F0">
                  <a:alpha val="75000"/>
                </a:srgbClr>
              </a:gs>
            </a:gsLst>
            <a:lin ang="2400000" scaled="0"/>
            <a:tileRect/>
          </a:gradFill>
          <a:ln>
            <a:noFill/>
          </a:ln>
          <a:effectLst>
            <a:reflection endPos="0" dist="50800" dir="5400000" sy="-100000" algn="bl" rotWithShape="0"/>
          </a:effectLst>
        </p:spPr>
        <p:txBody>
          <a:bodyPr wrap="square" rtlCol="0">
            <a:no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Frontend (JS) </a:t>
            </a:r>
            <a:r>
              <a:rPr lang="en-US" dirty="0">
                <a:latin typeface="Aptos Display" panose="020B0004020202020204" pitchFamily="34" charset="0"/>
              </a:rPr>
              <a:t>- </a:t>
            </a:r>
            <a:r>
              <a:rPr lang="ru-RU" dirty="0">
                <a:latin typeface="Aptos Display" panose="020B0004020202020204" pitchFamily="34" charset="0"/>
              </a:rPr>
              <a:t>інтерфейс користувача, запуск ігор, надсилання результатів</a:t>
            </a:r>
          </a:p>
          <a:p>
            <a:endParaRPr lang="ru-RU" dirty="0">
              <a:latin typeface="Aptos Display" panose="020B0004020202020204" pitchFamily="34" charset="0"/>
            </a:endParaRPr>
          </a:p>
          <a:p>
            <a:r>
              <a:rPr lang="en-US" b="1" dirty="0">
                <a:latin typeface="Aptos Display" panose="020B0004020202020204" pitchFamily="34" charset="0"/>
              </a:rPr>
              <a:t>Flask backend </a:t>
            </a:r>
            <a:r>
              <a:rPr lang="en-US" dirty="0">
                <a:latin typeface="Aptos Display" panose="020B0004020202020204" pitchFamily="34" charset="0"/>
              </a:rPr>
              <a:t>- </a:t>
            </a:r>
            <a:r>
              <a:rPr lang="ru-RU" dirty="0">
                <a:latin typeface="Aptos Display" panose="020B0004020202020204" pitchFamily="34" charset="0"/>
              </a:rPr>
              <a:t>обробка запитів, маршрути, авторизація</a:t>
            </a:r>
          </a:p>
          <a:p>
            <a:endParaRPr lang="ru-RU" dirty="0">
              <a:latin typeface="Aptos Display" panose="020B0004020202020204" pitchFamily="34" charset="0"/>
            </a:endParaRPr>
          </a:p>
          <a:p>
            <a:r>
              <a:rPr lang="en-US" b="1" dirty="0">
                <a:latin typeface="Aptos Display" panose="020B0004020202020204" pitchFamily="34" charset="0"/>
              </a:rPr>
              <a:t>Game logic </a:t>
            </a:r>
            <a:r>
              <a:rPr lang="en-US" dirty="0">
                <a:latin typeface="Aptos Display" panose="020B0004020202020204" pitchFamily="34" charset="0"/>
              </a:rPr>
              <a:t>- </a:t>
            </a:r>
            <a:r>
              <a:rPr lang="ru-RU" dirty="0">
                <a:latin typeface="Aptos Display" panose="020B0004020202020204" pitchFamily="34" charset="0"/>
              </a:rPr>
              <a:t>логіка ігор, підрахунок балів</a:t>
            </a:r>
          </a:p>
          <a:p>
            <a:endParaRPr lang="ru-RU" dirty="0">
              <a:latin typeface="Aptos Display" panose="020B0004020202020204" pitchFamily="34" charset="0"/>
            </a:endParaRPr>
          </a:p>
          <a:p>
            <a:r>
              <a:rPr lang="en-US" b="1" dirty="0">
                <a:latin typeface="Aptos Display" panose="020B0004020202020204" pitchFamily="34" charset="0"/>
              </a:rPr>
              <a:t>Models (Flask-</a:t>
            </a:r>
            <a:r>
              <a:rPr lang="en-US" b="1" dirty="0" err="1">
                <a:latin typeface="Aptos Display" panose="020B0004020202020204" pitchFamily="34" charset="0"/>
              </a:rPr>
              <a:t>SQLAlchemy</a:t>
            </a:r>
            <a:r>
              <a:rPr lang="en-US" b="1" dirty="0">
                <a:latin typeface="Aptos Display" panose="020B0004020202020204" pitchFamily="34" charset="0"/>
              </a:rPr>
              <a:t>) </a:t>
            </a:r>
            <a:r>
              <a:rPr lang="en-US" dirty="0">
                <a:latin typeface="Aptos Display" panose="020B0004020202020204" pitchFamily="34" charset="0"/>
              </a:rPr>
              <a:t>- </a:t>
            </a:r>
            <a:r>
              <a:rPr lang="ru-RU" dirty="0">
                <a:latin typeface="Aptos Display" panose="020B0004020202020204" pitchFamily="34" charset="0"/>
              </a:rPr>
              <a:t>користувачі та результати ігор</a:t>
            </a:r>
          </a:p>
          <a:p>
            <a:endParaRPr lang="ru-RU" dirty="0">
              <a:latin typeface="Aptos Display" panose="020B0004020202020204" pitchFamily="34" charset="0"/>
            </a:endParaRPr>
          </a:p>
          <a:p>
            <a:r>
              <a:rPr lang="en-US" b="1" dirty="0">
                <a:latin typeface="Aptos Display" panose="020B0004020202020204" pitchFamily="34" charset="0"/>
              </a:rPr>
              <a:t>Database (SQLite) </a:t>
            </a:r>
            <a:r>
              <a:rPr lang="en-US" dirty="0">
                <a:latin typeface="Aptos Display" panose="020B0004020202020204" pitchFamily="34" charset="0"/>
              </a:rPr>
              <a:t>- </a:t>
            </a:r>
            <a:r>
              <a:rPr lang="ru-RU" dirty="0">
                <a:latin typeface="Aptos Display" panose="020B0004020202020204" pitchFamily="34" charset="0"/>
              </a:rPr>
              <a:t>збереження даних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A7C64F-7065-D981-AE01-310D014FF297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778436" y="2070340"/>
            <a:ext cx="0" cy="280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455757-364D-9A20-48DB-DA0B51B02CC6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2778435" y="2771106"/>
            <a:ext cx="1" cy="27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800EF9-E749-8A78-13D3-1E26C87D2A33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778435" y="4176549"/>
            <a:ext cx="1" cy="27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1D26A4-1C5F-72F3-2EB5-F3EE8D86D49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2778435" y="4875091"/>
            <a:ext cx="1" cy="27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698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3179-42C3-2188-4F18-5D4BD3F1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Основний функціонал - Авторизація</a:t>
            </a:r>
            <a:r>
              <a:rPr lang="en-US" b="1" dirty="0">
                <a:solidFill>
                  <a:srgbClr val="7030A0"/>
                </a:solidFill>
              </a:rPr>
              <a:t> &amp; </a:t>
            </a:r>
            <a:r>
              <a:rPr lang="ru-RU" b="1" dirty="0">
                <a:solidFill>
                  <a:srgbClr val="7030A0"/>
                </a:solidFill>
              </a:rPr>
              <a:t>Міні-ігри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BFC23-CE30-12C2-8108-90ECC65B9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64470"/>
            <a:ext cx="8595360" cy="3553905"/>
          </a:xfrm>
        </p:spPr>
        <p:txBody>
          <a:bodyPr/>
          <a:lstStyle/>
          <a:p>
            <a:pPr marL="0" indent="0" algn="ctr">
              <a:buNone/>
            </a:pPr>
            <a:r>
              <a:rPr lang="ru-RU" sz="2000" b="1" dirty="0">
                <a:latin typeface="Aptos Black" panose="020B0004020202020204" pitchFamily="34" charset="0"/>
              </a:rPr>
              <a:t>🔐 Аутентифікація</a:t>
            </a:r>
          </a:p>
          <a:p>
            <a:r>
              <a:rPr lang="ru-RU" dirty="0"/>
              <a:t>Реєстрація/вхід з використанням </a:t>
            </a:r>
            <a:r>
              <a:rPr lang="en-US" dirty="0"/>
              <a:t>Flask-Login; </a:t>
            </a:r>
            <a:r>
              <a:rPr lang="ru-RU" dirty="0"/>
              <a:t>паролі хешуються (</a:t>
            </a:r>
            <a:r>
              <a:rPr lang="en-US" dirty="0" err="1"/>
              <a:t>Werkzeug</a:t>
            </a:r>
            <a:r>
              <a:rPr lang="en-US" dirty="0"/>
              <a:t>). </a:t>
            </a:r>
            <a:r>
              <a:rPr lang="ru-RU" dirty="0"/>
              <a:t>Доступ до профілю й покупок обмежено для автентифікованих користувачів.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ru-RU" sz="2000" b="1" dirty="0">
                <a:latin typeface="Aptos Black" panose="020B0004020202020204" pitchFamily="34" charset="0"/>
              </a:rPr>
              <a:t>🎮 Ігри </a:t>
            </a:r>
            <a:r>
              <a:rPr lang="en-US" sz="2000" b="1" dirty="0">
                <a:latin typeface="Aptos Black" panose="020B0004020202020204" pitchFamily="34" charset="0"/>
              </a:rPr>
              <a:t>-</a:t>
            </a:r>
            <a:r>
              <a:rPr lang="ru-RU" sz="2000" b="1" dirty="0">
                <a:latin typeface="Aptos Black" panose="020B0004020202020204" pitchFamily="34" charset="0"/>
              </a:rPr>
              <a:t> реалізація</a:t>
            </a:r>
            <a:endParaRPr lang="en-US" sz="2000" b="1" dirty="0">
              <a:latin typeface="Aptos Black" panose="020B0004020202020204" pitchFamily="34" charset="0"/>
            </a:endParaRPr>
          </a:p>
          <a:p>
            <a:r>
              <a:rPr lang="ru-RU" dirty="0"/>
              <a:t>Кожна гра має свій маршрут: </a:t>
            </a:r>
            <a:r>
              <a:rPr lang="en-US" dirty="0"/>
              <a:t>arithmetic.py, sequence_recall.py, tapping_memory.py, color_rush.py. UI </a:t>
            </a:r>
            <a:r>
              <a:rPr lang="ru-RU" dirty="0"/>
              <a:t>реалізовано в окремих шаблонах і </a:t>
            </a:r>
            <a:r>
              <a:rPr lang="en-US" dirty="0"/>
              <a:t>CSS, </a:t>
            </a:r>
            <a:r>
              <a:rPr lang="ru-RU" dirty="0"/>
              <a:t>бекенд обробляє збереження результатів у </a:t>
            </a:r>
            <a:r>
              <a:rPr lang="en-US" dirty="0" err="1"/>
              <a:t>GameResult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7632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38349-FBCF-25DF-45A2-14FB6927C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D32A-79C4-A8DF-CA18-0FFCF2F9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Основний функціонал - Профіль, Магазин, Лідерборд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870F-11CB-E2DB-D938-984AFE6B5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28" y="2064470"/>
            <a:ext cx="10228082" cy="4345757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000" b="1" dirty="0">
                <a:latin typeface="Aptos Black" panose="020B0004020202020204" pitchFamily="34" charset="0"/>
              </a:rPr>
              <a:t>👤 Профіль</a:t>
            </a:r>
            <a:endParaRPr lang="en-US" sz="2000" b="1" dirty="0">
              <a:latin typeface="Aptos Black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dirty="0"/>
              <a:t>Відображення: загальні метрики, історія ігор (</a:t>
            </a:r>
            <a:r>
              <a:rPr lang="en-US" dirty="0" err="1"/>
              <a:t>GameResult</a:t>
            </a:r>
            <a:r>
              <a:rPr lang="en-US" dirty="0"/>
              <a:t>), </a:t>
            </a:r>
            <a:r>
              <a:rPr lang="ru-RU" dirty="0"/>
              <a:t>куплені предмети (</a:t>
            </a:r>
            <a:r>
              <a:rPr lang="en-US" dirty="0"/>
              <a:t>USER_PURCHASES), </a:t>
            </a:r>
            <a:r>
              <a:rPr lang="ru-RU" dirty="0"/>
              <a:t>налаштування теми.</a:t>
            </a:r>
            <a:endParaRPr lang="en-US" dirty="0"/>
          </a:p>
          <a:p>
            <a:pPr marL="0" indent="0" algn="ctr">
              <a:lnSpc>
                <a:spcPct val="100000"/>
              </a:lnSpc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sz="2000" b="1" dirty="0">
                <a:latin typeface="Aptos Black" panose="020B0004020202020204" pitchFamily="34" charset="0"/>
              </a:rPr>
              <a:t>🏪 Магазин</a:t>
            </a:r>
          </a:p>
          <a:p>
            <a:r>
              <a:rPr lang="ru-RU" dirty="0"/>
              <a:t>Каталог товарів (</a:t>
            </a:r>
            <a:r>
              <a:rPr lang="en-US" dirty="0"/>
              <a:t>Shop Items). </a:t>
            </a:r>
            <a:r>
              <a:rPr lang="ru-RU" dirty="0"/>
              <a:t>Перед покупкою відбувається перевірка балансу, транзакція записується у </a:t>
            </a:r>
            <a:r>
              <a:rPr lang="en-US" dirty="0"/>
              <a:t>Transactions </a:t>
            </a:r>
            <a:r>
              <a:rPr lang="ru-RU" dirty="0"/>
              <a:t>для аудиту.</a:t>
            </a:r>
            <a:endParaRPr lang="en-US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sz="2000" b="1" dirty="0">
                <a:latin typeface="Aptos Black" panose="020B0004020202020204" pitchFamily="34" charset="0"/>
              </a:rPr>
              <a:t>🏆 Лідерборд</a:t>
            </a:r>
          </a:p>
          <a:p>
            <a:r>
              <a:rPr lang="ru-RU" dirty="0"/>
              <a:t>Розраховується на основі монет/балів у таблицях </a:t>
            </a:r>
            <a:r>
              <a:rPr lang="en-US" dirty="0" err="1"/>
              <a:t>GameResult</a:t>
            </a:r>
            <a:r>
              <a:rPr lang="en-US" dirty="0"/>
              <a:t> </a:t>
            </a:r>
            <a:r>
              <a:rPr lang="ru-RU" dirty="0"/>
              <a:t>та </a:t>
            </a:r>
            <a:r>
              <a:rPr lang="en-US" dirty="0"/>
              <a:t>Users, </a:t>
            </a:r>
            <a:r>
              <a:rPr lang="ru-RU" dirty="0"/>
              <a:t>доступні фільтри за грою або глобальні.</a:t>
            </a:r>
          </a:p>
        </p:txBody>
      </p:sp>
    </p:spTree>
    <p:extLst>
      <p:ext uri="{BB962C8B-B14F-4D97-AF65-F5344CB8AC3E}">
        <p14:creationId xmlns:p14="http://schemas.microsoft.com/office/powerpoint/2010/main" val="3693773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8CA1-E91B-E638-4AF0-52C8ABCAD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22017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Нові функції 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12AEDF-41C1-61FE-CC56-40D0C26BEE86}"/>
              </a:ext>
            </a:extLst>
          </p:cNvPr>
          <p:cNvSpPr/>
          <p:nvPr/>
        </p:nvSpPr>
        <p:spPr>
          <a:xfrm>
            <a:off x="406671" y="1300899"/>
            <a:ext cx="3343625" cy="5373278"/>
          </a:xfrm>
          <a:prstGeom prst="roundRect">
            <a:avLst>
              <a:gd name="adj" fmla="val 7927"/>
            </a:avLst>
          </a:prstGeom>
          <a:gradFill flip="none" rotWithShape="1">
            <a:gsLst>
              <a:gs pos="100000">
                <a:srgbClr val="0070C0">
                  <a:alpha val="70000"/>
                </a:srgb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 w="25400">
            <a:solidFill>
              <a:schemeClr val="accent1">
                <a:shade val="15000"/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Aptos Black" panose="020B0004020202020204" pitchFamily="34" charset="0"/>
              </a:rPr>
              <a:t>Що було додано?</a:t>
            </a:r>
          </a:p>
          <a:p>
            <a:pPr algn="ctr"/>
            <a:endParaRPr lang="ru-RU" sz="2000" b="1" dirty="0">
              <a:solidFill>
                <a:srgbClr val="00B050"/>
              </a:solidFill>
              <a:latin typeface="Aptos Black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Система щоденних бонусів (</a:t>
            </a:r>
            <a:r>
              <a:rPr lang="en-US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Daily Streak): 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реалізовано алгоритм утримання користувачів. Нарахування монет за вхід: 15 за перший день, +5 за кожен наступний (макс. 50), зі скиданням при пропуску дня.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Глобальні лідерборди: 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додано таблиці лідерів за загальною кількістю монет та окремі рейтинги за рекордами в кожній грі.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Розширені налаштування профілю: 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додано функціонал безпеки (зміна пароля) та право користувача на видалення даних (видалення акаунту).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UI/UX </a:t>
            </a:r>
            <a:r>
              <a:rPr lang="ru-RU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Оптимізація: 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оновлено стилі інтерфейсу та виправлено критичні баги в логіці ігор.</a:t>
            </a:r>
          </a:p>
          <a:p>
            <a:endParaRPr lang="ru-RU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9BFA56-FB2C-8A15-AF9A-3477469AA9DA}"/>
              </a:ext>
            </a:extLst>
          </p:cNvPr>
          <p:cNvSpPr/>
          <p:nvPr/>
        </p:nvSpPr>
        <p:spPr>
          <a:xfrm>
            <a:off x="4028135" y="1300899"/>
            <a:ext cx="3343625" cy="5373278"/>
          </a:xfrm>
          <a:prstGeom prst="roundRect">
            <a:avLst>
              <a:gd name="adj" fmla="val 7927"/>
            </a:avLst>
          </a:prstGeom>
          <a:gradFill flip="none" rotWithShape="1">
            <a:gsLst>
              <a:gs pos="100000">
                <a:srgbClr val="0070C0">
                  <a:alpha val="70000"/>
                </a:srgb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 w="25400">
            <a:solidFill>
              <a:schemeClr val="accent1">
                <a:shade val="15000"/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dirty="0">
                <a:latin typeface="Aptos Black" panose="020B0004020202020204" pitchFamily="34" charset="0"/>
              </a:rPr>
              <a:t>Чому обрано саме ці функції?</a:t>
            </a:r>
            <a:endParaRPr lang="ru-RU" sz="2000" b="1" dirty="0">
              <a:solidFill>
                <a:srgbClr val="00B050"/>
              </a:solidFill>
              <a:latin typeface="Aptos Black" panose="020B0004020202020204" pitchFamily="34" charset="0"/>
            </a:endParaRP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Retention (</a:t>
            </a: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Утримання):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Daily Streak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стимулює користувача повертатися в застосунок щодня.</a:t>
            </a:r>
          </a:p>
          <a:p>
            <a:endParaRPr lang="ru-RU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Gamification (</a:t>
            </a: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Гейміфікація):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лідерборди додають елемент змагання, що підвищує інтерес до ігор.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Security &amp; Privacy: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зміна пароля та видалення акаунту - це базовий стандарт сучасних вебзастосунків.</a:t>
            </a:r>
            <a:endParaRPr lang="en-US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endParaRPr lang="ru-RU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01BDDB-E73E-C41E-D66F-8ED3136ED374}"/>
              </a:ext>
            </a:extLst>
          </p:cNvPr>
          <p:cNvSpPr/>
          <p:nvPr/>
        </p:nvSpPr>
        <p:spPr>
          <a:xfrm>
            <a:off x="7649599" y="1300899"/>
            <a:ext cx="3343625" cy="5373278"/>
          </a:xfrm>
          <a:prstGeom prst="roundRect">
            <a:avLst>
              <a:gd name="adj" fmla="val 7927"/>
            </a:avLst>
          </a:prstGeom>
          <a:gradFill flip="none" rotWithShape="1">
            <a:gsLst>
              <a:gs pos="100000">
                <a:srgbClr val="0070C0">
                  <a:alpha val="70000"/>
                </a:srgb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 w="25400">
            <a:solidFill>
              <a:schemeClr val="accent1">
                <a:shade val="15000"/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dirty="0">
                <a:latin typeface="Aptos Black" panose="020B0004020202020204" pitchFamily="34" charset="0"/>
              </a:rPr>
              <a:t>Як це покращує застосунок?</a:t>
            </a:r>
          </a:p>
          <a:p>
            <a:pPr algn="ctr"/>
            <a:endParaRPr lang="ru-RU" sz="2000" b="1" dirty="0">
              <a:solidFill>
                <a:srgbClr val="00B050"/>
              </a:solidFill>
              <a:latin typeface="Aptos Black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Підвищення </a:t>
            </a:r>
            <a:r>
              <a:rPr lang="en-US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LTV (Lifetime Value):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користувачі проводять у системі більше часу завдяки лідербордам.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Соціальна взаємодія: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через рейтинги користувачі бачать активність інших, що робить платформу живою.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Стабільність та надійність: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виправлення багів та оновлення стилів роблять користувацький досвід приємнішим та прогнозованішим.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9976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5323-0111-BCC3-609E-17841FAC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65456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Структура бази даних</a:t>
            </a:r>
            <a:endParaRPr lang="ru-RU" dirty="0">
              <a:solidFill>
                <a:srgbClr val="7030A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5E9FD9-BB8D-8D6F-9DB7-8C8D5E075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785148"/>
              </p:ext>
            </p:extLst>
          </p:nvPr>
        </p:nvGraphicFramePr>
        <p:xfrm>
          <a:off x="443036" y="1357996"/>
          <a:ext cx="1659143" cy="4450080"/>
        </p:xfrm>
        <a:graphic>
          <a:graphicData uri="http://schemas.openxmlformats.org/drawingml/2006/table">
            <a:tbl>
              <a:tblPr firstRow="1" bandRow="1"/>
              <a:tblGrid>
                <a:gridCol w="494384">
                  <a:extLst>
                    <a:ext uri="{9D8B030D-6E8A-4147-A177-3AD203B41FA5}">
                      <a16:colId xmlns:a16="http://schemas.microsoft.com/office/drawing/2014/main" val="353860904"/>
                    </a:ext>
                  </a:extLst>
                </a:gridCol>
                <a:gridCol w="810705">
                  <a:extLst>
                    <a:ext uri="{9D8B030D-6E8A-4147-A177-3AD203B41FA5}">
                      <a16:colId xmlns:a16="http://schemas.microsoft.com/office/drawing/2014/main" val="1982605719"/>
                    </a:ext>
                  </a:extLst>
                </a:gridCol>
                <a:gridCol w="354054">
                  <a:extLst>
                    <a:ext uri="{9D8B030D-6E8A-4147-A177-3AD203B41FA5}">
                      <a16:colId xmlns:a16="http://schemas.microsoft.com/office/drawing/2014/main" val="127281778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USERS</a:t>
                      </a:r>
                      <a:endParaRPr lang="ru-RU" sz="11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85989"/>
                  </a:ext>
                </a:extLst>
              </a:tr>
              <a:tr h="21069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PK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50074"/>
                  </a:ext>
                </a:extLst>
              </a:tr>
              <a:tr h="12792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username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62119"/>
                  </a:ext>
                </a:extLst>
              </a:tr>
              <a:tr h="21069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password_hash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10231"/>
                  </a:ext>
                </a:extLst>
              </a:tr>
              <a:tr h="12792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role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44737"/>
                  </a:ext>
                </a:extLst>
              </a:tr>
              <a:tr h="21069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balance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74998"/>
                  </a:ext>
                </a:extLst>
              </a:tr>
              <a:tr h="21069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coins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50287"/>
                  </a:ext>
                </a:extLst>
              </a:tr>
              <a:tr h="12792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theme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73041"/>
                  </a:ext>
                </a:extLst>
              </a:tr>
              <a:tr h="21069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current_avatar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2304"/>
                  </a:ext>
                </a:extLst>
              </a:tr>
              <a:tr h="21069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login_streak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36889"/>
                  </a:ext>
                </a:extLst>
              </a:tr>
              <a:tr h="21069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last_login_date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51494"/>
                  </a:ext>
                </a:extLst>
              </a:tr>
              <a:tr h="12792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created_at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5973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6A984E6-F842-262B-57D7-8262CD501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26211"/>
              </p:ext>
            </p:extLst>
          </p:nvPr>
        </p:nvGraphicFramePr>
        <p:xfrm>
          <a:off x="2271861" y="1357996"/>
          <a:ext cx="1709529" cy="3764280"/>
        </p:xfrm>
        <a:graphic>
          <a:graphicData uri="http://schemas.openxmlformats.org/drawingml/2006/table">
            <a:tbl>
              <a:tblPr firstRow="1" bandRow="1"/>
              <a:tblGrid>
                <a:gridCol w="494384">
                  <a:extLst>
                    <a:ext uri="{9D8B030D-6E8A-4147-A177-3AD203B41FA5}">
                      <a16:colId xmlns:a16="http://schemas.microsoft.com/office/drawing/2014/main" val="353860904"/>
                    </a:ext>
                  </a:extLst>
                </a:gridCol>
                <a:gridCol w="810705">
                  <a:extLst>
                    <a:ext uri="{9D8B030D-6E8A-4147-A177-3AD203B41FA5}">
                      <a16:colId xmlns:a16="http://schemas.microsoft.com/office/drawing/2014/main" val="1982605719"/>
                    </a:ext>
                  </a:extLst>
                </a:gridCol>
                <a:gridCol w="404440">
                  <a:extLst>
                    <a:ext uri="{9D8B030D-6E8A-4147-A177-3AD203B41FA5}">
                      <a16:colId xmlns:a16="http://schemas.microsoft.com/office/drawing/2014/main" val="1272817786"/>
                    </a:ext>
                  </a:extLst>
                </a:gridCol>
              </a:tblGrid>
              <a:tr h="18267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GAME_RESULTS</a:t>
                      </a:r>
                      <a:endParaRPr lang="ru-RU" sz="11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85989"/>
                  </a:ext>
                </a:extLst>
              </a:tr>
              <a:tr h="25523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PK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50074"/>
                  </a:ext>
                </a:extLst>
              </a:tr>
              <a:tr h="25523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user_id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FK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62119"/>
                  </a:ext>
                </a:extLst>
              </a:tr>
              <a:tr h="25523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game_name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10231"/>
                  </a:ext>
                </a:extLst>
              </a:tr>
              <a:tr h="18267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level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44737"/>
                  </a:ext>
                </a:extLst>
              </a:tr>
              <a:tr h="25523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score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74998"/>
                  </a:ext>
                </a:extLst>
              </a:tr>
              <a:tr h="25523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REAL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time_spent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50287"/>
                  </a:ext>
                </a:extLst>
              </a:tr>
              <a:tr h="236189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rounds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73041"/>
                  </a:ext>
                </a:extLst>
              </a:tr>
              <a:tr h="25523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coins_earned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2304"/>
                  </a:ext>
                </a:extLst>
              </a:tr>
              <a:tr h="25523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created_at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3688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D8B829D-4F6E-83B8-A610-ECDF60AD5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068978"/>
              </p:ext>
            </p:extLst>
          </p:nvPr>
        </p:nvGraphicFramePr>
        <p:xfrm>
          <a:off x="4151072" y="1357996"/>
          <a:ext cx="1575322" cy="2987040"/>
        </p:xfrm>
        <a:graphic>
          <a:graphicData uri="http://schemas.openxmlformats.org/drawingml/2006/table">
            <a:tbl>
              <a:tblPr firstRow="1" bandRow="1"/>
              <a:tblGrid>
                <a:gridCol w="506748">
                  <a:extLst>
                    <a:ext uri="{9D8B030D-6E8A-4147-A177-3AD203B41FA5}">
                      <a16:colId xmlns:a16="http://schemas.microsoft.com/office/drawing/2014/main" val="353860904"/>
                    </a:ext>
                  </a:extLst>
                </a:gridCol>
                <a:gridCol w="709036">
                  <a:extLst>
                    <a:ext uri="{9D8B030D-6E8A-4147-A177-3AD203B41FA5}">
                      <a16:colId xmlns:a16="http://schemas.microsoft.com/office/drawing/2014/main" val="1982605719"/>
                    </a:ext>
                  </a:extLst>
                </a:gridCol>
                <a:gridCol w="359538">
                  <a:extLst>
                    <a:ext uri="{9D8B030D-6E8A-4147-A177-3AD203B41FA5}">
                      <a16:colId xmlns:a16="http://schemas.microsoft.com/office/drawing/2014/main" val="127281778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TRANSACTIONS</a:t>
                      </a:r>
                      <a:endParaRPr lang="ru-RU" sz="11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85989"/>
                  </a:ext>
                </a:extLst>
              </a:tr>
              <a:tr h="35315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PK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50074"/>
                  </a:ext>
                </a:extLst>
              </a:tr>
              <a:tr h="35315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user_id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FK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62119"/>
                  </a:ext>
                </a:extLst>
              </a:tr>
              <a:tr h="353150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amount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10231"/>
                  </a:ext>
                </a:extLst>
              </a:tr>
              <a:tr h="326795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transaction_type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44737"/>
                  </a:ext>
                </a:extLst>
              </a:tr>
              <a:tr h="353150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description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74998"/>
                  </a:ext>
                </a:extLst>
              </a:tr>
              <a:tr h="353150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created_at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50287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0E2E9A9-7F9A-5476-BB4D-F42EB1034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90529"/>
              </p:ext>
            </p:extLst>
          </p:nvPr>
        </p:nvGraphicFramePr>
        <p:xfrm>
          <a:off x="5896076" y="1357996"/>
          <a:ext cx="1557764" cy="2910840"/>
        </p:xfrm>
        <a:graphic>
          <a:graphicData uri="http://schemas.openxmlformats.org/drawingml/2006/table">
            <a:tbl>
              <a:tblPr firstRow="1" bandRow="1"/>
              <a:tblGrid>
                <a:gridCol w="506961">
                  <a:extLst>
                    <a:ext uri="{9D8B030D-6E8A-4147-A177-3AD203B41FA5}">
                      <a16:colId xmlns:a16="http://schemas.microsoft.com/office/drawing/2014/main" val="353860904"/>
                    </a:ext>
                  </a:extLst>
                </a:gridCol>
                <a:gridCol w="675886">
                  <a:extLst>
                    <a:ext uri="{9D8B030D-6E8A-4147-A177-3AD203B41FA5}">
                      <a16:colId xmlns:a16="http://schemas.microsoft.com/office/drawing/2014/main" val="1982605719"/>
                    </a:ext>
                  </a:extLst>
                </a:gridCol>
                <a:gridCol w="374917">
                  <a:extLst>
                    <a:ext uri="{9D8B030D-6E8A-4147-A177-3AD203B41FA5}">
                      <a16:colId xmlns:a16="http://schemas.microsoft.com/office/drawing/2014/main" val="127281778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FEEDBACK</a:t>
                      </a:r>
                      <a:endParaRPr lang="ru-RU" sz="11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85989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PK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50074"/>
                  </a:ext>
                </a:extLst>
              </a:tr>
              <a:tr h="20189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user_id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62119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name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10231"/>
                  </a:ext>
                </a:extLst>
              </a:tr>
              <a:tr h="18682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email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44737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message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74998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created_at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712146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updated_at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5028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1FF48DC-31D7-EA8F-6B58-BAD686C60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52477"/>
              </p:ext>
            </p:extLst>
          </p:nvPr>
        </p:nvGraphicFramePr>
        <p:xfrm>
          <a:off x="7641080" y="1357996"/>
          <a:ext cx="1489436" cy="3246120"/>
        </p:xfrm>
        <a:graphic>
          <a:graphicData uri="http://schemas.openxmlformats.org/drawingml/2006/table">
            <a:tbl>
              <a:tblPr firstRow="1" bandRow="1"/>
              <a:tblGrid>
                <a:gridCol w="501796">
                  <a:extLst>
                    <a:ext uri="{9D8B030D-6E8A-4147-A177-3AD203B41FA5}">
                      <a16:colId xmlns:a16="http://schemas.microsoft.com/office/drawing/2014/main" val="353860904"/>
                    </a:ext>
                  </a:extLst>
                </a:gridCol>
                <a:gridCol w="624456">
                  <a:extLst>
                    <a:ext uri="{9D8B030D-6E8A-4147-A177-3AD203B41FA5}">
                      <a16:colId xmlns:a16="http://schemas.microsoft.com/office/drawing/2014/main" val="1982605719"/>
                    </a:ext>
                  </a:extLst>
                </a:gridCol>
                <a:gridCol w="363184">
                  <a:extLst>
                    <a:ext uri="{9D8B030D-6E8A-4147-A177-3AD203B41FA5}">
                      <a16:colId xmlns:a16="http://schemas.microsoft.com/office/drawing/2014/main" val="127281778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SHOP_ITEMS</a:t>
                      </a:r>
                      <a:endParaRPr lang="ru-RU" sz="11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85989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PK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50074"/>
                  </a:ext>
                </a:extLst>
              </a:tr>
              <a:tr h="20189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item_type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62119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name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10231"/>
                  </a:ext>
                </a:extLst>
              </a:tr>
              <a:tr h="18682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description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44737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price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74998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is_active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712146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created_at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50287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31DAE14-15E8-B5C8-939E-4F0AC3EA4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885279"/>
              </p:ext>
            </p:extLst>
          </p:nvPr>
        </p:nvGraphicFramePr>
        <p:xfrm>
          <a:off x="9317756" y="1357996"/>
          <a:ext cx="1489436" cy="2133600"/>
        </p:xfrm>
        <a:graphic>
          <a:graphicData uri="http://schemas.openxmlformats.org/drawingml/2006/table">
            <a:tbl>
              <a:tblPr firstRow="1" bandRow="1"/>
              <a:tblGrid>
                <a:gridCol w="501796">
                  <a:extLst>
                    <a:ext uri="{9D8B030D-6E8A-4147-A177-3AD203B41FA5}">
                      <a16:colId xmlns:a16="http://schemas.microsoft.com/office/drawing/2014/main" val="353860904"/>
                    </a:ext>
                  </a:extLst>
                </a:gridCol>
                <a:gridCol w="624456">
                  <a:extLst>
                    <a:ext uri="{9D8B030D-6E8A-4147-A177-3AD203B41FA5}">
                      <a16:colId xmlns:a16="http://schemas.microsoft.com/office/drawing/2014/main" val="1982605719"/>
                    </a:ext>
                  </a:extLst>
                </a:gridCol>
                <a:gridCol w="363184">
                  <a:extLst>
                    <a:ext uri="{9D8B030D-6E8A-4147-A177-3AD203B41FA5}">
                      <a16:colId xmlns:a16="http://schemas.microsoft.com/office/drawing/2014/main" val="127281778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USER_PURCHASES</a:t>
                      </a:r>
                      <a:endParaRPr lang="ru-RU" sz="11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85989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PK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50074"/>
                  </a:ext>
                </a:extLst>
              </a:tr>
              <a:tr h="20189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user_id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FK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62119"/>
                  </a:ext>
                </a:extLst>
              </a:tr>
              <a:tr h="24395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INTEGER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item_id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FK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10231"/>
                  </a:ext>
                </a:extLst>
              </a:tr>
              <a:tr h="18682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Consolas" panose="020B0609020204030204" pitchFamily="49" charset="0"/>
                        </a:rPr>
                        <a:t>TEXT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Consolas" panose="020B0609020204030204" pitchFamily="49" charset="0"/>
                        </a:rPr>
                        <a:t>purchased_at</a:t>
                      </a:r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44737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5414C8-E3B9-8E13-A74F-CEB9CB8FD2DD}"/>
              </a:ext>
            </a:extLst>
          </p:cNvPr>
          <p:cNvCxnSpPr>
            <a:cxnSpLocks/>
          </p:cNvCxnSpPr>
          <p:nvPr/>
        </p:nvCxnSpPr>
        <p:spPr>
          <a:xfrm>
            <a:off x="1414021" y="1866510"/>
            <a:ext cx="1404593" cy="499618"/>
          </a:xfrm>
          <a:prstGeom prst="straightConnector1">
            <a:avLst/>
          </a:prstGeom>
          <a:ln w="25400" cap="flat" cmpd="sng" algn="ctr">
            <a:solidFill>
              <a:srgbClr val="7451AA">
                <a:alpha val="50000"/>
              </a:srgb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6658D8-5F83-A6B3-CE90-6489328A38C2}"/>
              </a:ext>
            </a:extLst>
          </p:cNvPr>
          <p:cNvCxnSpPr>
            <a:cxnSpLocks/>
          </p:cNvCxnSpPr>
          <p:nvPr/>
        </p:nvCxnSpPr>
        <p:spPr>
          <a:xfrm>
            <a:off x="1414021" y="1866510"/>
            <a:ext cx="3337088" cy="311085"/>
          </a:xfrm>
          <a:prstGeom prst="straightConnector1">
            <a:avLst/>
          </a:prstGeom>
          <a:ln w="25400" cap="flat" cmpd="sng" algn="ctr">
            <a:solidFill>
              <a:srgbClr val="7451AA">
                <a:alpha val="50000"/>
              </a:srgb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9AAF082-5E2E-37A1-D314-7960DE22D702}"/>
              </a:ext>
            </a:extLst>
          </p:cNvPr>
          <p:cNvCxnSpPr>
            <a:cxnSpLocks/>
          </p:cNvCxnSpPr>
          <p:nvPr/>
        </p:nvCxnSpPr>
        <p:spPr>
          <a:xfrm>
            <a:off x="1414021" y="1866510"/>
            <a:ext cx="5123476" cy="311085"/>
          </a:xfrm>
          <a:prstGeom prst="straightConnector1">
            <a:avLst/>
          </a:prstGeom>
          <a:ln w="25400" cap="flat" cmpd="sng" algn="ctr">
            <a:solidFill>
              <a:srgbClr val="7451AA">
                <a:alpha val="50000"/>
              </a:srgb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78CBA6-D541-81E5-5A58-BBBA68BA415D}"/>
              </a:ext>
            </a:extLst>
          </p:cNvPr>
          <p:cNvCxnSpPr>
            <a:cxnSpLocks/>
          </p:cNvCxnSpPr>
          <p:nvPr/>
        </p:nvCxnSpPr>
        <p:spPr>
          <a:xfrm>
            <a:off x="1414021" y="1866510"/>
            <a:ext cx="8506118" cy="311085"/>
          </a:xfrm>
          <a:prstGeom prst="straightConnector1">
            <a:avLst/>
          </a:prstGeom>
          <a:ln w="25400" cap="flat" cmpd="sng" algn="ctr">
            <a:solidFill>
              <a:srgbClr val="7451AA">
                <a:alpha val="50000"/>
              </a:srgb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F8600FE-1D96-1CC3-31A2-D5C94A544AA7}"/>
              </a:ext>
            </a:extLst>
          </p:cNvPr>
          <p:cNvCxnSpPr>
            <a:cxnSpLocks/>
          </p:cNvCxnSpPr>
          <p:nvPr/>
        </p:nvCxnSpPr>
        <p:spPr>
          <a:xfrm>
            <a:off x="8550111" y="1866510"/>
            <a:ext cx="1370028" cy="801276"/>
          </a:xfrm>
          <a:prstGeom prst="straightConnector1">
            <a:avLst/>
          </a:prstGeom>
          <a:ln w="25400" cap="flat" cmpd="sng" algn="ctr">
            <a:solidFill>
              <a:srgbClr val="7451AA">
                <a:alpha val="50000"/>
              </a:srgb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57BCA58-6A3B-DB52-28FD-FEC2518F99BE}"/>
              </a:ext>
            </a:extLst>
          </p:cNvPr>
          <p:cNvSpPr txBox="1"/>
          <p:nvPr/>
        </p:nvSpPr>
        <p:spPr>
          <a:xfrm>
            <a:off x="641023" y="5948313"/>
            <a:ext cx="9954013" cy="678730"/>
          </a:xfrm>
          <a:prstGeom prst="roundRect">
            <a:avLst/>
          </a:prstGeom>
          <a:gradFill flip="none" rotWithShape="1">
            <a:gsLst>
              <a:gs pos="25000">
                <a:srgbClr val="677CE7">
                  <a:alpha val="70000"/>
                </a:srgbClr>
              </a:gs>
              <a:gs pos="95000">
                <a:srgbClr val="754DA5">
                  <a:alpha val="60000"/>
                </a:srgbClr>
              </a:gs>
            </a:gsLst>
            <a:lin ang="4200000" scaled="0"/>
            <a:tileRect/>
          </a:gradFill>
          <a:ln>
            <a:noFill/>
          </a:ln>
          <a:effectLst>
            <a:reflection endPos="0" dist="50800" dir="5400000" sy="-100000" algn="bl" rotWithShape="0"/>
          </a:effectLst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Моделі організовано у файлах </a:t>
            </a:r>
            <a:r>
              <a:rPr lang="en-US" dirty="0"/>
              <a:t>app/models/*</a:t>
            </a:r>
          </a:p>
          <a:p>
            <a:pPr algn="ctr"/>
            <a:r>
              <a:rPr lang="ru-RU" dirty="0"/>
              <a:t>Ініціалізація БД </a:t>
            </a:r>
            <a:r>
              <a:rPr lang="en-US" dirty="0"/>
              <a:t>-</a:t>
            </a:r>
            <a:r>
              <a:rPr lang="ru-RU" dirty="0"/>
              <a:t> </a:t>
            </a:r>
            <a:r>
              <a:rPr lang="en-US" dirty="0"/>
              <a:t>app/db/init_db.py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7635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4E0A0-CBDA-925F-2666-F86E8CA93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1259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API Endpoints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501896-148A-DAD0-BDAC-680B791A9A45}"/>
              </a:ext>
            </a:extLst>
          </p:cNvPr>
          <p:cNvSpPr/>
          <p:nvPr/>
        </p:nvSpPr>
        <p:spPr>
          <a:xfrm>
            <a:off x="113123" y="1310326"/>
            <a:ext cx="2573516" cy="518191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88900">
            <a:gradFill flip="none" rotWithShape="1">
              <a:gsLst>
                <a:gs pos="0">
                  <a:srgbClr val="6877E0"/>
                </a:gs>
                <a:gs pos="100000">
                  <a:srgbClr val="754DA5"/>
                </a:gs>
              </a:gsLst>
              <a:lin ang="2700000" scaled="1"/>
              <a:tileRect/>
            </a:gradFill>
          </a:ln>
          <a:effectLst>
            <a:glow rad="101600">
              <a:schemeClr val="accent1">
                <a:lumMod val="50000"/>
                <a:alpha val="34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b="1" dirty="0"/>
              <a:t>👤</a:t>
            </a:r>
            <a:r>
              <a:rPr lang="en-US" dirty="0">
                <a:solidFill>
                  <a:srgbClr val="3D4B62"/>
                </a:solidFill>
                <a:latin typeface="Aptos Black" panose="020B0004020202020204" pitchFamily="34" charset="0"/>
              </a:rPr>
              <a:t>User</a:t>
            </a:r>
          </a:p>
          <a:p>
            <a:endParaRPr lang="en-US" dirty="0">
              <a:solidFill>
                <a:srgbClr val="3D4B62"/>
              </a:solidFill>
              <a:latin typeface="Aptos Black" panose="020B0004020202020204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/v1/user/profile -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отримати профіль поточного користувача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/v1/user/{id} -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отримати профіль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користувача по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id</a:t>
            </a:r>
            <a:endParaRPr lang="ru-RU" sz="1200" dirty="0">
              <a:solidFill>
                <a:srgbClr val="3D4B62"/>
              </a:solidFill>
              <a:latin typeface="Aptos Black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D6BB57-CB7F-DDB6-1985-7DEE9B4C373C}"/>
              </a:ext>
            </a:extLst>
          </p:cNvPr>
          <p:cNvSpPr/>
          <p:nvPr/>
        </p:nvSpPr>
        <p:spPr>
          <a:xfrm>
            <a:off x="2933309" y="1310326"/>
            <a:ext cx="2573516" cy="518191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88900">
            <a:gradFill flip="none" rotWithShape="1">
              <a:gsLst>
                <a:gs pos="0">
                  <a:srgbClr val="6877E0"/>
                </a:gs>
                <a:gs pos="100000">
                  <a:srgbClr val="754DA5"/>
                </a:gs>
              </a:gsLst>
              <a:lin ang="2700000" scaled="1"/>
              <a:tileRect/>
            </a:gradFill>
          </a:ln>
          <a:effectLst>
            <a:glow rad="101600">
              <a:schemeClr val="accent1">
                <a:lumMod val="50000"/>
                <a:alpha val="34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3D4B62"/>
                </a:solidFill>
                <a:latin typeface="Aptos Black" panose="020B0004020202020204" pitchFamily="34" charset="0"/>
              </a:rPr>
              <a:t>🛍️ Shop</a:t>
            </a:r>
          </a:p>
          <a:p>
            <a:pPr algn="ctr"/>
            <a:endParaRPr lang="en-US" dirty="0">
              <a:solidFill>
                <a:srgbClr val="3D4B62"/>
              </a:solidFill>
              <a:latin typeface="Aptos Black" panose="020B0004020202020204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/v1/shop/items –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отримати усі предмети магазину</a:t>
            </a:r>
          </a:p>
          <a:p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/v1/shop/item/{id} –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отримати інформацію про товар з магазину по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id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POST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/v1/shop/purchase/{id} –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купити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товар по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id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/v1/shop/purchases –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отримати список куплених предметів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24A806-B440-8592-53CC-EE705721B8A0}"/>
              </a:ext>
            </a:extLst>
          </p:cNvPr>
          <p:cNvSpPr/>
          <p:nvPr/>
        </p:nvSpPr>
        <p:spPr>
          <a:xfrm>
            <a:off x="5753495" y="1310326"/>
            <a:ext cx="2573516" cy="518191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88900">
            <a:gradFill flip="none" rotWithShape="1">
              <a:gsLst>
                <a:gs pos="0">
                  <a:srgbClr val="6877E0"/>
                </a:gs>
                <a:gs pos="100000">
                  <a:srgbClr val="754DA5"/>
                </a:gs>
              </a:gsLst>
              <a:lin ang="2700000" scaled="1"/>
              <a:tileRect/>
            </a:gradFill>
          </a:ln>
          <a:effectLst>
            <a:glow rad="101600">
              <a:schemeClr val="accent1">
                <a:lumMod val="50000"/>
                <a:alpha val="34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3D4B62"/>
                </a:solidFill>
                <a:latin typeface="Aptos Black" panose="020B0004020202020204" pitchFamily="34" charset="0"/>
              </a:rPr>
              <a:t>💬 Feedback</a:t>
            </a:r>
          </a:p>
          <a:p>
            <a:pPr algn="ctr"/>
            <a:endParaRPr lang="en-US" dirty="0">
              <a:solidFill>
                <a:srgbClr val="3D4B62"/>
              </a:solidFill>
              <a:latin typeface="Aptos Black" panose="020B0004020202020204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/v1/feedback –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отримати усі відгуки</a:t>
            </a:r>
          </a:p>
          <a:p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/v1/feedback/{id} –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отримати відгук по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id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POST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/v1/feedback + Request Body (JSON) “message” -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написати відгук</a:t>
            </a:r>
          </a:p>
          <a:p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PUT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/v1/feedback/{id}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+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Request Body (JSON) “message” -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відредагувати відгук по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id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DELETE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/v1/feedback/{id} -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видалити відгук по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id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731F42-74CC-1C5C-9146-702C5B3472BE}"/>
              </a:ext>
            </a:extLst>
          </p:cNvPr>
          <p:cNvSpPr/>
          <p:nvPr/>
        </p:nvSpPr>
        <p:spPr>
          <a:xfrm>
            <a:off x="8573681" y="1310326"/>
            <a:ext cx="2573516" cy="518191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88900">
            <a:gradFill flip="none" rotWithShape="1">
              <a:gsLst>
                <a:gs pos="0">
                  <a:srgbClr val="6877E0"/>
                </a:gs>
                <a:gs pos="100000">
                  <a:srgbClr val="754DA5"/>
                </a:gs>
              </a:gsLst>
              <a:lin ang="2700000" scaled="1"/>
              <a:tileRect/>
            </a:gradFill>
          </a:ln>
          <a:effectLst>
            <a:glow rad="101600">
              <a:schemeClr val="accent1">
                <a:lumMod val="50000"/>
                <a:alpha val="34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3D4B62"/>
                </a:solidFill>
                <a:latin typeface="Aptos Black" panose="020B0004020202020204" pitchFamily="34" charset="0"/>
              </a:rPr>
              <a:t>📊 Stats</a:t>
            </a:r>
            <a:br>
              <a:rPr lang="en-US" dirty="0">
                <a:solidFill>
                  <a:srgbClr val="3D4B62"/>
                </a:solidFill>
                <a:latin typeface="Aptos Black" panose="020B0004020202020204" pitchFamily="34" charset="0"/>
              </a:rPr>
            </a:br>
            <a:endParaRPr lang="en-US" dirty="0">
              <a:solidFill>
                <a:srgbClr val="3D4B62"/>
              </a:solidFill>
              <a:latin typeface="Aptos Black" panose="020B0004020202020204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/v1/stats/games –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статистика з ігор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поточного користувача</a:t>
            </a:r>
          </a:p>
          <a:p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/v1/stats/game/ -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статистика з ігри по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id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поточного користувача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GET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/v1/transactions 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– список транзакцій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715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F07F-3C93-3A8C-9B1C-36EF6A7AA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723978"/>
            <a:ext cx="9692640" cy="765456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Технічні виклики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8DA46F-2108-7F55-F39E-BE39F72AA14F}"/>
              </a:ext>
            </a:extLst>
          </p:cNvPr>
          <p:cNvSpPr/>
          <p:nvPr/>
        </p:nvSpPr>
        <p:spPr>
          <a:xfrm>
            <a:off x="482087" y="2342551"/>
            <a:ext cx="3202912" cy="2830401"/>
          </a:xfrm>
          <a:prstGeom prst="roundRect">
            <a:avLst/>
          </a:prstGeom>
          <a:gradFill>
            <a:gsLst>
              <a:gs pos="32000">
                <a:srgbClr val="6A71D8">
                  <a:alpha val="75000"/>
                </a:srgbClr>
              </a:gs>
              <a:gs pos="100000">
                <a:srgbClr val="7451AA">
                  <a:alpha val="75000"/>
                </a:srgbClr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700" dirty="0">
                <a:latin typeface="Aptos Black" panose="020F0502020204030204" pitchFamily="34" charset="0"/>
                <a:cs typeface="Aharoni" panose="02010803020104030203" pitchFamily="2" charset="-79"/>
              </a:rPr>
              <a:t>🔒 Безпека</a:t>
            </a:r>
          </a:p>
          <a:p>
            <a:pPr algn="ctr"/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Захист маршрутів через @</a:t>
            </a:r>
            <a:r>
              <a:rPr lang="en-US" sz="16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login_required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,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окремі декоратори для адмінських роутів (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decorators.py).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Паролі хешуються, сесії контролюються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Flask-Login.</a:t>
            </a:r>
            <a:endParaRPr lang="ru-RU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597606-7943-687B-6177-344473C0EA26}"/>
              </a:ext>
            </a:extLst>
          </p:cNvPr>
          <p:cNvSpPr/>
          <p:nvPr/>
        </p:nvSpPr>
        <p:spPr>
          <a:xfrm>
            <a:off x="4071499" y="2342551"/>
            <a:ext cx="3202912" cy="2830401"/>
          </a:xfrm>
          <a:prstGeom prst="roundRect">
            <a:avLst/>
          </a:prstGeom>
          <a:gradFill flip="none" rotWithShape="1">
            <a:gsLst>
              <a:gs pos="0">
                <a:srgbClr val="6A71D8">
                  <a:alpha val="75000"/>
                </a:srgbClr>
              </a:gs>
              <a:gs pos="100000">
                <a:srgbClr val="7451AA">
                  <a:alpha val="7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700" dirty="0">
                <a:latin typeface="Aptos Black" panose="020F0502020204030204" pitchFamily="34" charset="0"/>
                <a:cs typeface="Aharoni" panose="02010803020104030203" pitchFamily="2" charset="-79"/>
              </a:rPr>
              <a:t>💾 Консистентність</a:t>
            </a:r>
            <a:endParaRPr lang="en-US" sz="1700" dirty="0">
              <a:latin typeface="Aptos Black" panose="020F0502020204030204" pitchFamily="34" charset="0"/>
              <a:cs typeface="Aharoni" panose="02010803020104030203" pitchFamily="2" charset="-79"/>
            </a:endParaRPr>
          </a:p>
          <a:p>
            <a:pPr algn="ctr"/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Транзакції у магазині виконуються в SQL транзакціях; історія транзакцій використовується для аудиту та відкатів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.</a:t>
            </a:r>
            <a:endParaRPr lang="ru-RU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CB373C-0C30-60E9-AB2A-8C3655DCBDCF}"/>
              </a:ext>
            </a:extLst>
          </p:cNvPr>
          <p:cNvSpPr/>
          <p:nvPr/>
        </p:nvSpPr>
        <p:spPr>
          <a:xfrm>
            <a:off x="7660911" y="2342551"/>
            <a:ext cx="3202912" cy="2830401"/>
          </a:xfrm>
          <a:prstGeom prst="roundRect">
            <a:avLst/>
          </a:prstGeom>
          <a:gradFill flip="none" rotWithShape="1">
            <a:gsLst>
              <a:gs pos="68000">
                <a:srgbClr val="6A71D8">
                  <a:alpha val="75000"/>
                </a:srgbClr>
              </a:gs>
              <a:gs pos="0">
                <a:srgbClr val="7451AA">
                  <a:alpha val="75000"/>
                </a:srgbClr>
              </a:gs>
            </a:gsLst>
            <a:lin ang="192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700" dirty="0">
                <a:latin typeface="Aptos Black" panose="020F0502020204030204" pitchFamily="34" charset="0"/>
                <a:cs typeface="Aharoni" panose="02010803020104030203" pitchFamily="2" charset="-79"/>
              </a:rPr>
              <a:t>🧪 Ізольоване тестування</a:t>
            </a:r>
          </a:p>
          <a:p>
            <a:pPr algn="ctr"/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Для уникнення впливу тестів - тимчасові БД у тестах (fixtures), очистка між тестами.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3103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0CEF5B-0B84-2031-EADD-D6D65D60D4B6}"/>
              </a:ext>
            </a:extLst>
          </p:cNvPr>
          <p:cNvSpPr/>
          <p:nvPr/>
        </p:nvSpPr>
        <p:spPr>
          <a:xfrm>
            <a:off x="263951" y="1150070"/>
            <a:ext cx="10812544" cy="5552388"/>
          </a:xfrm>
          <a:prstGeom prst="roundRect">
            <a:avLst>
              <a:gd name="adj" fmla="val 9027"/>
            </a:avLst>
          </a:prstGeom>
          <a:solidFill>
            <a:srgbClr val="677CE7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8EF9D-5335-6BAA-24ED-4C70F86D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84310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Цікаві технічні рішення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3638C-D7EA-9B65-AD90-49C9A8A6C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892" y="1242768"/>
            <a:ext cx="3940404" cy="433633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latin typeface="Aptos Black" panose="020B0004020202020204" pitchFamily="34" charset="0"/>
              </a:rPr>
              <a:t>Декоратор доступу для адмінів</a:t>
            </a:r>
          </a:p>
          <a:p>
            <a:pPr marL="0" indent="0">
              <a:buNone/>
            </a:pPr>
            <a:endParaRPr lang="ru-RU" dirty="0">
              <a:latin typeface="Aptos Black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7DD14A-7715-AE42-B145-E91D91756630}"/>
              </a:ext>
            </a:extLst>
          </p:cNvPr>
          <p:cNvSpPr/>
          <p:nvPr/>
        </p:nvSpPr>
        <p:spPr>
          <a:xfrm>
            <a:off x="881723" y="1606543"/>
            <a:ext cx="3132055" cy="1626852"/>
          </a:xfrm>
          <a:prstGeom prst="roundRect">
            <a:avLst>
              <a:gd name="adj" fmla="val 6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latin typeface="Consolas" panose="020B0609020204030204" pitchFamily="49" charset="0"/>
              </a:rPr>
              <a:t>def </a:t>
            </a:r>
            <a:r>
              <a:rPr lang="en-US" sz="1100" dirty="0" err="1">
                <a:latin typeface="Consolas" panose="020B0609020204030204" pitchFamily="49" charset="0"/>
              </a:rPr>
              <a:t>admin_required</a:t>
            </a:r>
            <a:r>
              <a:rPr lang="en-US" sz="1100" dirty="0">
                <a:latin typeface="Consolas" panose="020B0609020204030204" pitchFamily="49" charset="0"/>
              </a:rPr>
              <a:t>(f):</a:t>
            </a:r>
          </a:p>
          <a:p>
            <a:r>
              <a:rPr lang="ru-RU" sz="1100" dirty="0">
                <a:latin typeface="Consolas" panose="020B0609020204030204" pitchFamily="49" charset="0"/>
              </a:rPr>
              <a:t>    @</a:t>
            </a:r>
            <a:r>
              <a:rPr lang="en-US" sz="1100" dirty="0">
                <a:latin typeface="Consolas" panose="020B0609020204030204" pitchFamily="49" charset="0"/>
              </a:rPr>
              <a:t>wraps(f)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@login_required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def </a:t>
            </a:r>
            <a:r>
              <a:rPr lang="en-US" sz="1100" dirty="0" err="1">
                <a:latin typeface="Consolas" panose="020B0609020204030204" pitchFamily="49" charset="0"/>
              </a:rPr>
              <a:t>decorated_view</a:t>
            </a:r>
            <a:r>
              <a:rPr lang="en-US" sz="1100" dirty="0">
                <a:latin typeface="Consolas" panose="020B0609020204030204" pitchFamily="49" charset="0"/>
              </a:rPr>
              <a:t>(*</a:t>
            </a:r>
            <a:r>
              <a:rPr lang="en-US" sz="1100" dirty="0" err="1">
                <a:latin typeface="Consolas" panose="020B0609020204030204" pitchFamily="49" charset="0"/>
              </a:rPr>
              <a:t>args</a:t>
            </a:r>
            <a:r>
              <a:rPr lang="en-US" sz="1100" dirty="0">
                <a:latin typeface="Consolas" panose="020B0609020204030204" pitchFamily="49" charset="0"/>
              </a:rPr>
              <a:t>, **</a:t>
            </a:r>
            <a:r>
              <a:rPr lang="en-US" sz="1100" dirty="0" err="1">
                <a:latin typeface="Consolas" panose="020B0609020204030204" pitchFamily="49" charset="0"/>
              </a:rPr>
              <a:t>kwargs</a:t>
            </a:r>
            <a:r>
              <a:rPr lang="en-US" sz="11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    if not </a:t>
            </a:r>
            <a:r>
              <a:rPr lang="en-US" sz="1100" dirty="0" err="1">
                <a:latin typeface="Consolas" panose="020B0609020204030204" pitchFamily="49" charset="0"/>
              </a:rPr>
              <a:t>current_user.is_admin</a:t>
            </a:r>
            <a:r>
              <a:rPr lang="en-US" sz="11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        abort(403)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    return f(*</a:t>
            </a:r>
            <a:r>
              <a:rPr lang="en-US" sz="1100" dirty="0" err="1">
                <a:latin typeface="Consolas" panose="020B0609020204030204" pitchFamily="49" charset="0"/>
              </a:rPr>
              <a:t>args</a:t>
            </a:r>
            <a:r>
              <a:rPr lang="en-US" sz="1100" dirty="0">
                <a:latin typeface="Consolas" panose="020B0609020204030204" pitchFamily="49" charset="0"/>
              </a:rPr>
              <a:t>, **</a:t>
            </a:r>
            <a:r>
              <a:rPr lang="en-US" sz="1100" dirty="0" err="1">
                <a:latin typeface="Consolas" panose="020B0609020204030204" pitchFamily="49" charset="0"/>
              </a:rPr>
              <a:t>kwargs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return </a:t>
            </a:r>
            <a:r>
              <a:rPr lang="en-US" sz="1100" dirty="0" err="1">
                <a:latin typeface="Consolas" panose="020B0609020204030204" pitchFamily="49" charset="0"/>
              </a:rPr>
              <a:t>decorated_view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6EABBF-1C0E-56D0-3123-6795040A8946}"/>
              </a:ext>
            </a:extLst>
          </p:cNvPr>
          <p:cNvSpPr/>
          <p:nvPr/>
        </p:nvSpPr>
        <p:spPr>
          <a:xfrm>
            <a:off x="740674" y="3792889"/>
            <a:ext cx="3414151" cy="938058"/>
          </a:xfrm>
          <a:prstGeom prst="roundRect">
            <a:avLst>
              <a:gd name="adj" fmla="val 6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latin typeface="Consolas" panose="020B0609020204030204" pitchFamily="49" charset="0"/>
              </a:rPr>
              <a:t>@app.route("/admin")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@admin_required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def </a:t>
            </a:r>
            <a:r>
              <a:rPr lang="en-US" sz="1100" dirty="0" err="1">
                <a:latin typeface="Consolas" panose="020B0609020204030204" pitchFamily="49" charset="0"/>
              </a:rPr>
              <a:t>admin_panel</a:t>
            </a:r>
            <a:r>
              <a:rPr lang="en-US" sz="1100" dirty="0">
                <a:latin typeface="Consolas" panose="020B0609020204030204" pitchFamily="49" charset="0"/>
              </a:rPr>
              <a:t>():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render_template</a:t>
            </a:r>
            <a:r>
              <a:rPr lang="en-US" sz="1100" dirty="0">
                <a:latin typeface="Consolas" panose="020B0609020204030204" pitchFamily="49" charset="0"/>
              </a:rPr>
              <a:t>("admin/dashboard.html")</a:t>
            </a:r>
            <a:endParaRPr lang="ru-RU" sz="11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CF568-F071-D68E-0092-33536C0F7B3C}"/>
              </a:ext>
            </a:extLst>
          </p:cNvPr>
          <p:cNvSpPr txBox="1"/>
          <p:nvPr/>
        </p:nvSpPr>
        <p:spPr>
          <a:xfrm>
            <a:off x="5446840" y="1669893"/>
            <a:ext cx="5223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Оптимізація доступу до даних</a:t>
            </a:r>
            <a:r>
              <a:rPr lang="en-US" dirty="0">
                <a:latin typeface="Aptos Black" panose="020B0004020202020204" pitchFamily="34" charset="0"/>
              </a:rPr>
              <a:t> (Row Factory)</a:t>
            </a:r>
            <a:endParaRPr lang="ru-RU" dirty="0">
              <a:latin typeface="Aptos Black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B9369E-65AE-70BD-88C2-8078D6A63088}"/>
              </a:ext>
            </a:extLst>
          </p:cNvPr>
          <p:cNvSpPr/>
          <p:nvPr/>
        </p:nvSpPr>
        <p:spPr>
          <a:xfrm>
            <a:off x="5887227" y="2419969"/>
            <a:ext cx="4581993" cy="1351176"/>
          </a:xfrm>
          <a:prstGeom prst="roundRect">
            <a:avLst>
              <a:gd name="adj" fmla="val 6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latin typeface="Consolas" panose="020B0609020204030204" pitchFamily="49" charset="0"/>
              </a:rPr>
              <a:t>def </a:t>
            </a:r>
            <a:r>
              <a:rPr lang="en-US" sz="1100" dirty="0" err="1">
                <a:latin typeface="Consolas" panose="020B0609020204030204" pitchFamily="49" charset="0"/>
              </a:rPr>
              <a:t>get_db_connection</a:t>
            </a:r>
            <a:r>
              <a:rPr lang="en-US" sz="1100" dirty="0">
                <a:latin typeface="Consolas" panose="020B0609020204030204" pitchFamily="49" charset="0"/>
              </a:rPr>
              <a:t>():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"""</a:t>
            </a:r>
            <a:r>
              <a:rPr lang="ru-RU" sz="1100" dirty="0">
                <a:latin typeface="Consolas" panose="020B0609020204030204" pitchFamily="49" charset="0"/>
              </a:rPr>
              <a:t>Створення підключення до бази даних </a:t>
            </a:r>
            <a:r>
              <a:rPr lang="en-US" sz="1100" dirty="0">
                <a:latin typeface="Consolas" panose="020B0609020204030204" pitchFamily="49" charset="0"/>
              </a:rPr>
              <a:t>SQLite"""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latin typeface="Consolas" panose="020B0609020204030204" pitchFamily="49" charset="0"/>
              </a:rPr>
              <a:t>os.makedirs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os.path.dirname</a:t>
            </a:r>
            <a:r>
              <a:rPr lang="en-US" sz="1100" dirty="0">
                <a:latin typeface="Consolas" panose="020B0609020204030204" pitchFamily="49" charset="0"/>
              </a:rPr>
              <a:t>(DB_PATH), </a:t>
            </a:r>
            <a:r>
              <a:rPr lang="en-US" sz="1100" dirty="0" err="1">
                <a:latin typeface="Consolas" panose="020B0609020204030204" pitchFamily="49" charset="0"/>
              </a:rPr>
              <a:t>exist_ok</a:t>
            </a:r>
            <a:r>
              <a:rPr lang="en-US" sz="1100" dirty="0">
                <a:latin typeface="Consolas" panose="020B0609020204030204" pitchFamily="49" charset="0"/>
              </a:rPr>
              <a:t>=True)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conn = sqlite3.connect(DB_PATH, </a:t>
            </a:r>
            <a:r>
              <a:rPr lang="en-US" sz="1100" dirty="0" err="1">
                <a:latin typeface="Consolas" panose="020B0609020204030204" pitchFamily="49" charset="0"/>
              </a:rPr>
              <a:t>detect_types</a:t>
            </a:r>
            <a:r>
              <a:rPr lang="en-US" sz="1100" dirty="0">
                <a:latin typeface="Consolas" panose="020B0609020204030204" pitchFamily="49" charset="0"/>
              </a:rPr>
              <a:t>=sqlite3.PARSE_DECLTYPES)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latin typeface="Consolas" panose="020B0609020204030204" pitchFamily="49" charset="0"/>
              </a:rPr>
              <a:t>conn.row_factory</a:t>
            </a:r>
            <a:r>
              <a:rPr lang="en-US" sz="1100" dirty="0">
                <a:latin typeface="Consolas" panose="020B0609020204030204" pitchFamily="49" charset="0"/>
              </a:rPr>
              <a:t> = sqlite3.Row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return conn</a:t>
            </a:r>
          </a:p>
          <a:p>
            <a:endParaRPr lang="ru-RU" sz="11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E9B80-FDFC-A8A0-E4CE-5E8E10BE9F40}"/>
              </a:ext>
            </a:extLst>
          </p:cNvPr>
          <p:cNvSpPr txBox="1"/>
          <p:nvPr/>
        </p:nvSpPr>
        <p:spPr>
          <a:xfrm>
            <a:off x="1540290" y="3328476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Використання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46DB2D-97E7-DB1F-73CD-3BAF49FE7BE8}"/>
              </a:ext>
            </a:extLst>
          </p:cNvPr>
          <p:cNvSpPr txBox="1"/>
          <p:nvPr/>
        </p:nvSpPr>
        <p:spPr>
          <a:xfrm>
            <a:off x="5767708" y="4151889"/>
            <a:ext cx="458142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latin typeface="Aptos Display" panose="020B0004020202020204" pitchFamily="34" charset="0"/>
              </a:rPr>
              <a:t>Доступ за ключем: </a:t>
            </a:r>
            <a:r>
              <a:rPr lang="ru-RU" sz="1500" dirty="0">
                <a:latin typeface="Aptos Display" panose="020B0004020202020204" pitchFamily="34" charset="0"/>
              </a:rPr>
              <a:t>Використання sqlite3.Row дозволяє звертатися до колонок БД за назвами (user['username']), а не за індексами (user[1]).</a:t>
            </a:r>
            <a:endParaRPr lang="en-US" sz="15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latin typeface="Aptos Display" panose="020B0004020202020204" pitchFamily="34" charset="0"/>
              </a:rPr>
              <a:t>Зниження ризику помилок: </a:t>
            </a:r>
            <a:r>
              <a:rPr lang="ru-RU" sz="1500" dirty="0">
                <a:latin typeface="Aptos Display" panose="020B0004020202020204" pitchFamily="34" charset="0"/>
              </a:rPr>
              <a:t>Це робить код значно читабельнішим та стійким до змін у структурі таблиць (якщо ви додасте нову колонку в середину таблиці, код не зламається).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dirty="0"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78E16E-C348-F245-9F6F-1F1C1D45BA94}"/>
              </a:ext>
            </a:extLst>
          </p:cNvPr>
          <p:cNvSpPr txBox="1"/>
          <p:nvPr/>
        </p:nvSpPr>
        <p:spPr>
          <a:xfrm>
            <a:off x="490194" y="4797748"/>
            <a:ext cx="41383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>
                <a:latin typeface="Aptos Display" panose="020B0004020202020204" pitchFamily="34" charset="0"/>
              </a:rPr>
              <a:t>Логіка перевірки прав винесена в декоратор, щоб не дублювати код у кожному маршруті</a:t>
            </a:r>
            <a:endParaRPr lang="en-US" sz="15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>
                <a:latin typeface="Aptos Display" panose="020B0004020202020204" pitchFamily="34" charset="0"/>
              </a:rPr>
              <a:t>Забезпечує чисту архітектуру та дотримання принципу </a:t>
            </a:r>
            <a:r>
              <a:rPr lang="en-US" sz="1500" dirty="0">
                <a:latin typeface="Aptos Display" panose="020B0004020202020204" pitchFamily="34" charset="0"/>
              </a:rPr>
              <a:t>DRY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>
                <a:latin typeface="Aptos Display" panose="020B0004020202020204" pitchFamily="34" charset="0"/>
              </a:rPr>
              <a:t>Полегшує розширення системи ролей (</a:t>
            </a:r>
            <a:r>
              <a:rPr lang="en-US" sz="1500" dirty="0">
                <a:latin typeface="Aptos Display" panose="020B0004020202020204" pitchFamily="34" charset="0"/>
              </a:rPr>
              <a:t>admin, moderator…</a:t>
            </a:r>
            <a:r>
              <a:rPr lang="ru-RU" sz="1500" dirty="0">
                <a:latin typeface="Aptos Display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4881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67236B-A71B-C8DB-0C77-0E688A7CF24D}"/>
              </a:ext>
            </a:extLst>
          </p:cNvPr>
          <p:cNvSpPr/>
          <p:nvPr/>
        </p:nvSpPr>
        <p:spPr>
          <a:xfrm>
            <a:off x="2355715" y="1330287"/>
            <a:ext cx="7480570" cy="4197426"/>
          </a:xfrm>
          <a:prstGeom prst="roundRect">
            <a:avLst/>
          </a:prstGeom>
          <a:gradFill flip="none" rotWithShape="1">
            <a:gsLst>
              <a:gs pos="32000">
                <a:srgbClr val="6A71D8">
                  <a:alpha val="63000"/>
                  <a:lumMod val="100000"/>
                </a:srgbClr>
              </a:gs>
              <a:gs pos="100000">
                <a:srgbClr val="7451AA">
                  <a:alpha val="75000"/>
                </a:srgbClr>
              </a:gs>
            </a:gsLst>
            <a:path path="circle">
              <a:fillToRect l="50000" t="50000" r="50000" b="50000"/>
            </a:path>
            <a:tileRect/>
          </a:gradFill>
          <a:effectLst>
            <a:glow rad="685800">
              <a:srgbClr val="6877E0">
                <a:alpha val="3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>
                <a:ln w="12700">
                  <a:solidFill>
                    <a:schemeClr val="accent1">
                      <a:shade val="15000"/>
                      <a:alpha val="5000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Демонстрація</a:t>
            </a:r>
          </a:p>
        </p:txBody>
      </p:sp>
    </p:spTree>
    <p:extLst>
      <p:ext uri="{BB962C8B-B14F-4D97-AF65-F5344CB8AC3E}">
        <p14:creationId xmlns:p14="http://schemas.microsoft.com/office/powerpoint/2010/main" val="1005009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9F27-59A7-DABB-03F3-1AB889CC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D1EF-16FF-009B-60EF-889E0D77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12591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Можливості розвитку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8884E9-F717-C5FC-1ADE-A477FFFDF2BA}"/>
              </a:ext>
            </a:extLst>
          </p:cNvPr>
          <p:cNvSpPr/>
          <p:nvPr/>
        </p:nvSpPr>
        <p:spPr>
          <a:xfrm>
            <a:off x="406671" y="1300899"/>
            <a:ext cx="3343625" cy="5373278"/>
          </a:xfrm>
          <a:prstGeom prst="roundRect">
            <a:avLst>
              <a:gd name="adj" fmla="val 7927"/>
            </a:avLst>
          </a:prstGeom>
          <a:gradFill flip="none" rotWithShape="1">
            <a:gsLst>
              <a:gs pos="100000">
                <a:srgbClr val="0070C0">
                  <a:alpha val="70000"/>
                </a:srgb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 w="25400">
            <a:solidFill>
              <a:schemeClr val="accent1">
                <a:shade val="15000"/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Aptos Black" panose="020B0004020202020204" pitchFamily="34" charset="0"/>
              </a:rPr>
              <a:t>Які функції можна додати в майбутньому?</a:t>
            </a:r>
          </a:p>
          <a:p>
            <a:pPr algn="ctr"/>
            <a:endParaRPr lang="ru-RU" sz="2000" b="1" dirty="0">
              <a:solidFill>
                <a:srgbClr val="00B050"/>
              </a:solidFill>
              <a:latin typeface="Aptos Black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Нові ігри</a:t>
            </a:r>
          </a:p>
          <a:p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Додати більше навчальних міні-ігор на логіку, пам’ять та швидкість мислення.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Персоналізація профілю</a:t>
            </a:r>
          </a:p>
          <a:p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Можливість купувати аватарки, рамки профілю та змінювати тему оформлення.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Соціальні можливості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Створення команд та проведення турнірів між гравцями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Командний режим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chemeClr val="tx1"/>
                </a:solidFill>
                <a:latin typeface="Aptos Display" panose="020B0004020202020204" pitchFamily="34" charset="0"/>
              </a:rPr>
              <a:t>Система прогресу</a:t>
            </a:r>
          </a:p>
          <a:p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Додавання рівнів, досвіду (</a:t>
            </a:r>
            <a:r>
              <a:rPr lang="en-US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XP) 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та досягнень для мотивації користувачів.</a:t>
            </a:r>
            <a:endParaRPr lang="ru-RU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5489B6-73F2-54ED-F6FA-73BD0283D173}"/>
              </a:ext>
            </a:extLst>
          </p:cNvPr>
          <p:cNvSpPr/>
          <p:nvPr/>
        </p:nvSpPr>
        <p:spPr>
          <a:xfrm>
            <a:off x="4028135" y="1300899"/>
            <a:ext cx="3343625" cy="5373278"/>
          </a:xfrm>
          <a:prstGeom prst="roundRect">
            <a:avLst>
              <a:gd name="adj" fmla="val 7927"/>
            </a:avLst>
          </a:prstGeom>
          <a:gradFill flip="none" rotWithShape="1">
            <a:gsLst>
              <a:gs pos="100000">
                <a:srgbClr val="0070C0">
                  <a:alpha val="70000"/>
                </a:srgb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 w="25400">
            <a:solidFill>
              <a:schemeClr val="accent1">
                <a:shade val="15000"/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dirty="0">
                <a:latin typeface="Aptos Black" panose="020B0004020202020204" pitchFamily="34" charset="0"/>
              </a:rPr>
              <a:t>Як можна покращити продуктивність?</a:t>
            </a:r>
            <a:endParaRPr lang="en-US" sz="2000" dirty="0">
              <a:latin typeface="Aptos Black" panose="020B0004020202020204" pitchFamily="34" charset="0"/>
            </a:endParaRPr>
          </a:p>
          <a:p>
            <a:pPr algn="ctr"/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Потужніша база даних</a:t>
            </a:r>
          </a:p>
          <a:p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Перехід з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SQLite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на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PostgreSQL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для стабільної роботи з великою кількістю користувачів.</a:t>
            </a:r>
          </a:p>
          <a:p>
            <a:endParaRPr lang="ru-RU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Оптимізація сесій</a:t>
            </a:r>
          </a:p>
          <a:p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Зменшити обсяг даних, які зберігаються в сесії, і не зберігати там важкі об’єкти.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9C7B5B-34C8-B58B-2A39-F6520BBB04E6}"/>
              </a:ext>
            </a:extLst>
          </p:cNvPr>
          <p:cNvSpPr/>
          <p:nvPr/>
        </p:nvSpPr>
        <p:spPr>
          <a:xfrm>
            <a:off x="7649599" y="1300899"/>
            <a:ext cx="3343625" cy="5373278"/>
          </a:xfrm>
          <a:prstGeom prst="roundRect">
            <a:avLst>
              <a:gd name="adj" fmla="val 7927"/>
            </a:avLst>
          </a:prstGeom>
          <a:gradFill flip="none" rotWithShape="1">
            <a:gsLst>
              <a:gs pos="100000">
                <a:srgbClr val="0070C0">
                  <a:alpha val="70000"/>
                </a:srgb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 w="25400">
            <a:solidFill>
              <a:schemeClr val="accent1">
                <a:shade val="15000"/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dirty="0">
                <a:latin typeface="Aptos Black" panose="020B0004020202020204" pitchFamily="34" charset="0"/>
              </a:rPr>
              <a:t>Які інтеграції планується реалізувати?</a:t>
            </a:r>
          </a:p>
          <a:p>
            <a:pPr algn="ctr"/>
            <a:endParaRPr lang="ru-RU" sz="2000" b="1" dirty="0">
              <a:solidFill>
                <a:srgbClr val="00B050"/>
              </a:solidFill>
              <a:latin typeface="Aptos Black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Швидкий вхід</a:t>
            </a:r>
          </a:p>
          <a:p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Авторизація через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Google, GitHub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або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Apple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без окремої реєстрації.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Боти та сповіщення</a:t>
            </a:r>
          </a:p>
          <a:p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Інтеграція з </a:t>
            </a:r>
            <a:r>
              <a:rPr lang="en-US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Telegram </a:t>
            </a:r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для повідомлень та запрошень.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Aptos Display" panose="020B0004020202020204" pitchFamily="34" charset="0"/>
              </a:rPr>
              <a:t>Платежі</a:t>
            </a:r>
          </a:p>
          <a:p>
            <a:r>
              <a:rPr lang="ru-RU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Підключення платіжних сервісів для купівлі ігрової валюти.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38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4338-8B84-1227-F12B-74809C7E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48943"/>
            <a:ext cx="9692640" cy="840871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Висновки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83AFD-D498-C516-9321-3A9273FB3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89" y="1131217"/>
            <a:ext cx="10237509" cy="5260156"/>
          </a:xfrm>
        </p:spPr>
        <p:txBody>
          <a:bodyPr>
            <a:normAutofit/>
          </a:bodyPr>
          <a:lstStyle/>
          <a:p>
            <a:r>
              <a:rPr lang="ru-RU" b="1" dirty="0">
                <a:latin typeface="Aptos Black" panose="020B0004020202020204" pitchFamily="34" charset="0"/>
              </a:rPr>
              <a:t>Що було реалізовано?</a:t>
            </a:r>
          </a:p>
          <a:p>
            <a:pPr lvl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Повноцінний </a:t>
            </a:r>
            <a:r>
              <a:rPr lang="en-US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Flask-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бекенд з розбиттям на </a:t>
            </a:r>
            <a:r>
              <a:rPr lang="en-US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Blueprint-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и (маршрути: </a:t>
            </a:r>
            <a:r>
              <a:rPr lang="en-US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auth, games, profile, shop, API).</a:t>
            </a:r>
            <a:endParaRPr lang="ru-RU" sz="15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Система реєстрації/логіну користувачів та збереження сесій (</a:t>
            </a:r>
            <a:r>
              <a:rPr lang="en-US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Flask-Login). </a:t>
            </a:r>
          </a:p>
          <a:p>
            <a:pPr lvl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Чотири ігри з ігровою логікою на бекенді/</a:t>
            </a:r>
            <a:r>
              <a:rPr lang="en-US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JS: Arithmetic, Sequence Recall, Color Rush, Tapping Memory (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зберігання результатів, автозбереження).</a:t>
            </a:r>
          </a:p>
          <a:p>
            <a:pPr lvl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Магазин внутрішніх покупок (валюта/монети, перевірка доступу до платних ігор, сторінка покупок). </a:t>
            </a:r>
            <a:endParaRPr lang="en-US" sz="15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REST-API </a:t>
            </a:r>
            <a:r>
              <a:rPr lang="ru-RU" sz="1500" dirty="0">
                <a:solidFill>
                  <a:schemeClr val="tx1"/>
                </a:solidFill>
                <a:latin typeface="Aptos Display" panose="020B0004020202020204" pitchFamily="34" charset="0"/>
              </a:rPr>
              <a:t>для статистики та відгуків; юніт-/інтеграційні тести для критичних сценаріїв (збереження результатів, покупка, статистика).</a:t>
            </a:r>
          </a:p>
          <a:p>
            <a:r>
              <a:rPr lang="ru-RU" dirty="0">
                <a:latin typeface="Aptos Black" panose="020B0004020202020204" pitchFamily="34" charset="0"/>
              </a:rPr>
              <a:t>Які навички здобуті?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latin typeface="Aptos Display" panose="020B0004020202020204" pitchFamily="34" charset="0"/>
              </a:rPr>
              <a:t>Практичний досвід розробки веб-бека: </a:t>
            </a:r>
            <a:r>
              <a:rPr lang="en-US" sz="1500" dirty="0">
                <a:latin typeface="Aptos Display" panose="020B0004020202020204" pitchFamily="34" charset="0"/>
              </a:rPr>
              <a:t>Flask, Blueprint-</a:t>
            </a:r>
            <a:r>
              <a:rPr lang="ru-RU" sz="1500" dirty="0">
                <a:latin typeface="Aptos Display" panose="020B0004020202020204" pitchFamily="34" charset="0"/>
              </a:rPr>
              <a:t>и, робота з БД (</a:t>
            </a:r>
            <a:r>
              <a:rPr lang="en-US" sz="1500" dirty="0">
                <a:latin typeface="Aptos Display" panose="020B0004020202020204" pitchFamily="34" charset="0"/>
              </a:rPr>
              <a:t>SQLite) </a:t>
            </a:r>
            <a:r>
              <a:rPr lang="ru-RU" sz="1500" dirty="0">
                <a:latin typeface="Aptos Display" panose="020B0004020202020204" pitchFamily="34" charset="0"/>
              </a:rPr>
              <a:t>та моделями. </a:t>
            </a:r>
            <a:endParaRPr lang="en-US" sz="1500" dirty="0">
              <a:latin typeface="Aptos Display" panose="020B0004020202020204" pitchFamily="34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latin typeface="Aptos Display" panose="020B0004020202020204" pitchFamily="34" charset="0"/>
              </a:rPr>
              <a:t>Робота з авторизацією (</a:t>
            </a:r>
            <a:r>
              <a:rPr lang="en-US" sz="1500" dirty="0">
                <a:latin typeface="Aptos Display" panose="020B0004020202020204" pitchFamily="34" charset="0"/>
              </a:rPr>
              <a:t>Flask-Login), </a:t>
            </a:r>
            <a:r>
              <a:rPr lang="ru-RU" sz="1500" dirty="0">
                <a:latin typeface="Aptos Display" panose="020B0004020202020204" pitchFamily="34" charset="0"/>
              </a:rPr>
              <a:t>безпекою маршрутів (декоратори) та обробкою користувацьких даних. </a:t>
            </a:r>
            <a:endParaRPr lang="en-US" sz="1500" dirty="0">
              <a:latin typeface="Aptos Display" panose="020B0004020202020204" pitchFamily="34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latin typeface="Aptos Display" panose="020B0004020202020204" pitchFamily="34" charset="0"/>
              </a:rPr>
              <a:t>Налаштування </a:t>
            </a:r>
            <a:r>
              <a:rPr lang="en-US" sz="1500" dirty="0">
                <a:latin typeface="Aptos Display" panose="020B0004020202020204" pitchFamily="34" charset="0"/>
              </a:rPr>
              <a:t>Git workflow, </a:t>
            </a:r>
            <a:r>
              <a:rPr lang="ru-RU" sz="1500" dirty="0">
                <a:latin typeface="Aptos Display" panose="020B0004020202020204" pitchFamily="34" charset="0"/>
              </a:rPr>
              <a:t>командна робота з гілками та </a:t>
            </a:r>
            <a:r>
              <a:rPr lang="en-US" sz="1500" dirty="0">
                <a:latin typeface="Aptos Display" panose="020B0004020202020204" pitchFamily="34" charset="0"/>
              </a:rPr>
              <a:t>Pull Request</a:t>
            </a:r>
            <a:r>
              <a:rPr lang="ru-RU" sz="1500" dirty="0">
                <a:latin typeface="Aptos Display" panose="020B0004020202020204" pitchFamily="34" charset="0"/>
              </a:rPr>
              <a:t>. </a:t>
            </a:r>
            <a:endParaRPr lang="en-US" sz="1500" dirty="0">
              <a:latin typeface="Aptos Display" panose="020B0004020202020204" pitchFamily="34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latin typeface="Aptos Display" panose="020B0004020202020204" pitchFamily="34" charset="0"/>
              </a:rPr>
              <a:t>Тестування бекенду та забезпечення консистентності транзакцій. </a:t>
            </a:r>
          </a:p>
          <a:p>
            <a:pPr marL="274320" lvl="1" indent="0">
              <a:spcBef>
                <a:spcPts val="100"/>
              </a:spcBef>
              <a:spcAft>
                <a:spcPts val="100"/>
              </a:spcAft>
              <a:buNone/>
            </a:pPr>
            <a:endParaRPr lang="ru-RU" sz="1400" dirty="0">
              <a:latin typeface="Aptos Display" panose="020B00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dirty="0">
                <a:latin typeface="Aptos Black" panose="020B0004020202020204" pitchFamily="34" charset="0"/>
              </a:rPr>
              <a:t>Ключові результати проєкту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latin typeface="Aptos Display" panose="020B0004020202020204" pitchFamily="34" charset="0"/>
              </a:rPr>
              <a:t>Робочий багатосторінковий вебзастосунок з автентифікацією, базою даних і кількома іграми.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latin typeface="Aptos Display" panose="020B0004020202020204" pitchFamily="34" charset="0"/>
              </a:rPr>
              <a:t>Збереження ігрових результатів, нарахування монет та механіка покупок/доступу до контенту. </a:t>
            </a:r>
            <a:endParaRPr lang="en-US" sz="1500" dirty="0">
              <a:latin typeface="Aptos Display" panose="020B0004020202020204" pitchFamily="34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latin typeface="Aptos Display" panose="020B0004020202020204" pitchFamily="34" charset="0"/>
              </a:rPr>
              <a:t>Наявність </a:t>
            </a:r>
            <a:r>
              <a:rPr lang="en-US" sz="1500" dirty="0">
                <a:latin typeface="Aptos Display" panose="020B0004020202020204" pitchFamily="34" charset="0"/>
              </a:rPr>
              <a:t>API </a:t>
            </a:r>
            <a:r>
              <a:rPr lang="ru-RU" sz="1500" dirty="0">
                <a:latin typeface="Aptos Display" panose="020B0004020202020204" pitchFamily="34" charset="0"/>
              </a:rPr>
              <a:t>для статистики та відгуків - можливість подальшої інтеграції (мобільний клієнт, аналітика). </a:t>
            </a:r>
            <a:endParaRPr lang="en-US" sz="1500" dirty="0">
              <a:latin typeface="Aptos Display" panose="020B0004020202020204" pitchFamily="34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latin typeface="Aptos Display" panose="020B0004020202020204" pitchFamily="34" charset="0"/>
              </a:rPr>
              <a:t>Набір тестів, докер-/</a:t>
            </a:r>
            <a:r>
              <a:rPr lang="en-US" sz="1500" dirty="0">
                <a:latin typeface="Aptos Display" panose="020B0004020202020204" pitchFamily="34" charset="0"/>
              </a:rPr>
              <a:t>nginx-</a:t>
            </a:r>
            <a:r>
              <a:rPr lang="ru-RU" sz="1500" dirty="0">
                <a:latin typeface="Aptos Display" panose="020B0004020202020204" pitchFamily="34" charset="0"/>
              </a:rPr>
              <a:t>конфігурацій та </a:t>
            </a:r>
            <a:r>
              <a:rPr lang="en-US" sz="1500" dirty="0">
                <a:latin typeface="Aptos Display" panose="020B0004020202020204" pitchFamily="34" charset="0"/>
              </a:rPr>
              <a:t>CI-</a:t>
            </a:r>
            <a:r>
              <a:rPr lang="ru-RU" sz="1500" dirty="0">
                <a:latin typeface="Aptos Display" panose="020B0004020202020204" pitchFamily="34" charset="0"/>
              </a:rPr>
              <a:t>готових.</a:t>
            </a:r>
          </a:p>
        </p:txBody>
      </p:sp>
    </p:spTree>
    <p:extLst>
      <p:ext uri="{BB962C8B-B14F-4D97-AF65-F5344CB8AC3E}">
        <p14:creationId xmlns:p14="http://schemas.microsoft.com/office/powerpoint/2010/main" val="98950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37E9292-8615-D21F-8D3F-8EDF6F085043}"/>
              </a:ext>
            </a:extLst>
          </p:cNvPr>
          <p:cNvSpPr/>
          <p:nvPr/>
        </p:nvSpPr>
        <p:spPr>
          <a:xfrm>
            <a:off x="1099226" y="1177047"/>
            <a:ext cx="10000034" cy="4805464"/>
          </a:xfrm>
          <a:prstGeom prst="ellipse">
            <a:avLst/>
          </a:prstGeom>
          <a:solidFill>
            <a:schemeClr val="accent2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477DA4-44F1-6F6E-7FCD-B6E9D11C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823453"/>
            <a:ext cx="9418320" cy="1211094"/>
          </a:xfrm>
        </p:spPr>
        <p:txBody>
          <a:bodyPr/>
          <a:lstStyle/>
          <a:p>
            <a:pPr algn="ctr"/>
            <a:r>
              <a:rPr lang="ru-RU" dirty="0"/>
              <a:t>Дякуємо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299919862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429</TotalTime>
  <Words>1880</Words>
  <Application>Microsoft Office PowerPoint</Application>
  <PresentationFormat>Широкий екран</PresentationFormat>
  <Paragraphs>330</Paragraphs>
  <Slides>16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4" baseType="lpstr">
      <vt:lpstr>Aptos Black</vt:lpstr>
      <vt:lpstr>Aptos Display</vt:lpstr>
      <vt:lpstr>Arial</vt:lpstr>
      <vt:lpstr>Century Schoolbook</vt:lpstr>
      <vt:lpstr>Consolas</vt:lpstr>
      <vt:lpstr>Courier New</vt:lpstr>
      <vt:lpstr>Wingdings 2</vt:lpstr>
      <vt:lpstr>View</vt:lpstr>
      <vt:lpstr>🧠 BrainRush  Вебзастосунок для тренування когнітивних навичок</vt:lpstr>
      <vt:lpstr>Огляд проблеми</vt:lpstr>
      <vt:lpstr>Наше рішення</vt:lpstr>
      <vt:lpstr>Технологічний стек</vt:lpstr>
      <vt:lpstr>Архітектура системи</vt:lpstr>
      <vt:lpstr>Основний функціонал - Авторизація &amp; Міні-ігри</vt:lpstr>
      <vt:lpstr>Основний функціонал - Профіль, Магазин, Лідерборд</vt:lpstr>
      <vt:lpstr>Нові функції </vt:lpstr>
      <vt:lpstr>Структура бази даних</vt:lpstr>
      <vt:lpstr>API Endpoints</vt:lpstr>
      <vt:lpstr>Технічні виклики</vt:lpstr>
      <vt:lpstr>Цікаві технічні рішення</vt:lpstr>
      <vt:lpstr>Презентація PowerPoint</vt:lpstr>
      <vt:lpstr>Можливості розвитку</vt:lpstr>
      <vt:lpstr>Висновки</vt:lpstr>
      <vt:lpstr>Дякуємо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🧠 BrainRush  Вебзастосунок для тренування когнітивних навичок</dc:title>
  <dc:creator>JH PC</dc:creator>
  <cp:lastModifiedBy>JH PC</cp:lastModifiedBy>
  <cp:revision>11</cp:revision>
  <dcterms:created xsi:type="dcterms:W3CDTF">2025-12-18T14:27:38Z</dcterms:created>
  <dcterms:modified xsi:type="dcterms:W3CDTF">2025-12-19T11:57:17Z</dcterms:modified>
</cp:coreProperties>
</file>